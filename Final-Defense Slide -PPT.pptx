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3">
  <p:sldMasterIdLst>
    <p:sldMasterId id="2147483659" r:id="rId1"/>
  </p:sldMasterIdLst>
  <p:notesMasterIdLst>
    <p:notesMasterId r:id="rId22"/>
  </p:notesMasterIdLst>
  <p:sldIdLst>
    <p:sldId id="256" r:id="rId2"/>
    <p:sldId id="264" r:id="rId3"/>
    <p:sldId id="280" r:id="rId4"/>
    <p:sldId id="293" r:id="rId5"/>
    <p:sldId id="296" r:id="rId6"/>
    <p:sldId id="313" r:id="rId7"/>
    <p:sldId id="294" r:id="rId8"/>
    <p:sldId id="314" r:id="rId9"/>
    <p:sldId id="298" r:id="rId10"/>
    <p:sldId id="315" r:id="rId11"/>
    <p:sldId id="316" r:id="rId12"/>
    <p:sldId id="300" r:id="rId13"/>
    <p:sldId id="305" r:id="rId14"/>
    <p:sldId id="317" r:id="rId15"/>
    <p:sldId id="319" r:id="rId16"/>
    <p:sldId id="318" r:id="rId17"/>
    <p:sldId id="320" r:id="rId18"/>
    <p:sldId id="322" r:id="rId19"/>
    <p:sldId id="321" r:id="rId20"/>
    <p:sldId id="295" r:id="rId2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2159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p:scale>
          <a:sx n="66" d="100"/>
          <a:sy n="66" d="100"/>
        </p:scale>
        <p:origin x="888" y="22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1/5/2026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1/5/2026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1/5/2026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1/5/2026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1/5/2026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Layout" Target="../slideLayouts/slideLayout1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155/2021/8854892" TargetMode="Externa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914400" y="1295400"/>
            <a:ext cx="10363200" cy="1752600"/>
          </a:xfrm>
        </p:spPr>
        <p:txBody>
          <a:bodyPr rtlCol="0">
            <a:normAutofit/>
          </a:bodyPr>
          <a:lstStyle/>
          <a:p>
            <a:r>
              <a:rPr lang="en-US" sz="3200" b="0" i="0" dirty="0">
                <a:solidFill>
                  <a:schemeClr val="tx1"/>
                </a:solidFill>
                <a:effectLst/>
                <a:latin typeface="Times New Roman" panose="02020603050405020304" pitchFamily="18" charset="0"/>
              </a:rPr>
              <a:t>Pneumonia Detection in Chest X-ray Images Using a Hybrid Model of Shallow CNN and VGG16 Transfer Learning</a:t>
            </a:r>
            <a:endParaRPr lang="en-US" sz="3200" dirty="0">
              <a:solidFill>
                <a:srgbClr val="7030A0"/>
              </a:solidFill>
              <a:effectLst/>
            </a:endParaRPr>
          </a:p>
        </p:txBody>
      </p:sp>
      <p:sp>
        <p:nvSpPr>
          <p:cNvPr id="5" name="Subtitle 4"/>
          <p:cNvSpPr>
            <a:spLocks noGrp="1"/>
          </p:cNvSpPr>
          <p:nvPr>
            <p:ph type="subTitle" idx="1"/>
          </p:nvPr>
        </p:nvSpPr>
        <p:spPr>
          <a:xfrm>
            <a:off x="3695700" y="3973399"/>
            <a:ext cx="4800600" cy="2438400"/>
          </a:xfrm>
        </p:spPr>
        <p:txBody>
          <a:bodyPr rtlCol="0">
            <a:normAutofit lnSpcReduction="10000"/>
          </a:bodyPr>
          <a:lstStyle/>
          <a:p>
            <a:r>
              <a:rPr lang="en-US" sz="2000" b="1" dirty="0">
                <a:solidFill>
                  <a:schemeClr val="tx1"/>
                </a:solidFill>
                <a:latin typeface="Times New Roman" panose="02020603050405020304" pitchFamily="18" charset="0"/>
                <a:cs typeface="Times New Roman" panose="02020603050405020304" pitchFamily="18" charset="0"/>
              </a:rPr>
              <a:t>Md. Rubel Mian</a:t>
            </a:r>
          </a:p>
          <a:p>
            <a:r>
              <a:rPr lang="en-US" sz="2000" b="1" dirty="0">
                <a:solidFill>
                  <a:schemeClr val="tx1"/>
                </a:solidFill>
                <a:latin typeface="Times New Roman" panose="02020603050405020304" pitchFamily="18" charset="0"/>
                <a:cs typeface="Times New Roman" panose="02020603050405020304" pitchFamily="18" charset="0"/>
              </a:rPr>
              <a:t>ID: </a:t>
            </a:r>
            <a:r>
              <a:rPr lang="en-US" sz="2000" dirty="0">
                <a:solidFill>
                  <a:schemeClr val="tx1"/>
                </a:solidFill>
                <a:latin typeface="Times New Roman" panose="02020603050405020304" pitchFamily="18" charset="0"/>
                <a:cs typeface="Times New Roman" panose="02020603050405020304" pitchFamily="18" charset="0"/>
              </a:rPr>
              <a:t>221-15-5379</a:t>
            </a:r>
          </a:p>
          <a:p>
            <a:r>
              <a:rPr lang="en-US" sz="1400" dirty="0">
                <a:solidFill>
                  <a:schemeClr val="tx1"/>
                </a:solidFill>
                <a:latin typeface="Times New Roman" panose="02020603050405020304" pitchFamily="18" charset="0"/>
                <a:cs typeface="Times New Roman" panose="02020603050405020304" pitchFamily="18" charset="0"/>
              </a:rPr>
              <a:t>And</a:t>
            </a:r>
          </a:p>
          <a:p>
            <a:r>
              <a:rPr lang="en-US" sz="2000" b="1" dirty="0">
                <a:solidFill>
                  <a:schemeClr val="tx1"/>
                </a:solidFill>
                <a:latin typeface="Times New Roman" panose="02020603050405020304" pitchFamily="18" charset="0"/>
                <a:cs typeface="Times New Roman" panose="02020603050405020304" pitchFamily="18" charset="0"/>
              </a:rPr>
              <a:t>Md. Akmal Hossain </a:t>
            </a:r>
            <a:r>
              <a:rPr lang="en-US" sz="2000" b="1" dirty="0" err="1">
                <a:solidFill>
                  <a:schemeClr val="tx1"/>
                </a:solidFill>
                <a:latin typeface="Times New Roman" panose="02020603050405020304" pitchFamily="18" charset="0"/>
                <a:cs typeface="Times New Roman" panose="02020603050405020304" pitchFamily="18" charset="0"/>
              </a:rPr>
              <a:t>Razu</a:t>
            </a:r>
            <a:endParaRPr lang="en-US" sz="2000" b="1"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ID: </a:t>
            </a:r>
            <a:r>
              <a:rPr lang="en-US" sz="2000" dirty="0">
                <a:solidFill>
                  <a:schemeClr val="tx1"/>
                </a:solidFill>
                <a:latin typeface="Times New Roman" panose="02020603050405020304" pitchFamily="18" charset="0"/>
                <a:cs typeface="Times New Roman" panose="02020603050405020304" pitchFamily="18" charset="0"/>
              </a:rPr>
              <a:t>221-15-5516</a:t>
            </a:r>
          </a:p>
          <a:p>
            <a:r>
              <a:rPr lang="en-US" sz="2000" b="1" dirty="0">
                <a:solidFill>
                  <a:schemeClr val="tx1"/>
                </a:solidFill>
                <a:latin typeface="Times New Roman" panose="02020603050405020304" pitchFamily="18" charset="0"/>
                <a:cs typeface="Times New Roman" panose="02020603050405020304" pitchFamily="18" charset="0"/>
              </a:rPr>
              <a:t>Department : </a:t>
            </a:r>
            <a:r>
              <a:rPr lang="en-US" sz="2000" dirty="0">
                <a:solidFill>
                  <a:schemeClr val="tx1"/>
                </a:solidFill>
                <a:latin typeface="Times New Roman" panose="02020603050405020304" pitchFamily="18" charset="0"/>
                <a:cs typeface="Times New Roman" panose="02020603050405020304" pitchFamily="18" charset="0"/>
              </a:rPr>
              <a:t>CSE</a:t>
            </a:r>
          </a:p>
          <a:p>
            <a:r>
              <a:rPr lang="en-US" sz="22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
        <p:nvSpPr>
          <p:cNvPr id="2" name="TextBox 1">
            <a:extLst>
              <a:ext uri="{FF2B5EF4-FFF2-40B4-BE49-F238E27FC236}">
                <a16:creationId xmlns:a16="http://schemas.microsoft.com/office/drawing/2014/main" id="{46FC8551-41BC-7160-AB58-5A1854853554}"/>
              </a:ext>
            </a:extLst>
          </p:cNvPr>
          <p:cNvSpPr txBox="1"/>
          <p:nvPr/>
        </p:nvSpPr>
        <p:spPr>
          <a:xfrm>
            <a:off x="8906256" y="185335"/>
            <a:ext cx="3276600" cy="369332"/>
          </a:xfrm>
          <a:prstGeom prst="rect">
            <a:avLst/>
          </a:prstGeom>
          <a:solidFill>
            <a:srgbClr val="215968"/>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fontScale="92500" lnSpcReduction="10000"/>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Sample Dataset &amp; Expected Output</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Web Interface </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9296400" y="5989637"/>
            <a:ext cx="2844800" cy="365125"/>
          </a:xfrm>
        </p:spPr>
        <p:txBody>
          <a:bodyPr/>
          <a:lstStyle/>
          <a:p>
            <a:pPr>
              <a:defRPr/>
            </a:pPr>
            <a:fld id="{4CD333A3-7515-47B8-9EDC-EE0892D9C861}" type="slidenum">
              <a:rPr lang="en-US" smtClean="0"/>
              <a:pPr>
                <a:defRPr/>
              </a:pPr>
              <a:t>2</a:t>
            </a:fld>
            <a:endParaRPr lang="en-US"/>
          </a:p>
        </p:txBody>
      </p:sp>
      <p:sp>
        <p:nvSpPr>
          <p:cNvPr id="5" name="TextBox 4">
            <a:extLst>
              <a:ext uri="{FF2B5EF4-FFF2-40B4-BE49-F238E27FC236}">
                <a16:creationId xmlns:a16="http://schemas.microsoft.com/office/drawing/2014/main" id="{1174EFF0-3D03-C0F9-F0D4-A9D3482709F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3472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id="{301160C4-4E81-64AE-82AE-E159832FFEF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TextBox 2">
            <a:extLst>
              <a:ext uri="{FF2B5EF4-FFF2-40B4-BE49-F238E27FC236}">
                <a16:creationId xmlns:a16="http://schemas.microsoft.com/office/drawing/2014/main" id="{38A3836E-8F2C-972B-F1A3-5B538D693CF3}"/>
              </a:ext>
            </a:extLst>
          </p:cNvPr>
          <p:cNvSpPr txBox="1"/>
          <p:nvPr/>
        </p:nvSpPr>
        <p:spPr>
          <a:xfrm>
            <a:off x="5204011" y="2528047"/>
            <a:ext cx="1828800" cy="1828800"/>
          </a:xfrm>
          <a:prstGeom prst="rect">
            <a:avLst/>
          </a:prstGeom>
          <a:noFill/>
        </p:spPr>
        <p:txBody>
          <a:bodyPr wrap="square" rtlCol="0">
            <a:spAutoFit/>
          </a:bodyPr>
          <a:lstStyle/>
          <a:p>
            <a:pPr algn="l"/>
            <a:endParaRPr lang="en-US" dirty="0"/>
          </a:p>
        </p:txBody>
      </p:sp>
      <p:sp>
        <p:nvSpPr>
          <p:cNvPr id="6" name="TextBox 5">
            <a:extLst>
              <a:ext uri="{FF2B5EF4-FFF2-40B4-BE49-F238E27FC236}">
                <a16:creationId xmlns:a16="http://schemas.microsoft.com/office/drawing/2014/main" id="{690FC333-B6A4-4620-ABED-079FD4648A8D}"/>
              </a:ext>
            </a:extLst>
          </p:cNvPr>
          <p:cNvSpPr txBox="1"/>
          <p:nvPr/>
        </p:nvSpPr>
        <p:spPr>
          <a:xfrm>
            <a:off x="1828800" y="1905000"/>
            <a:ext cx="184731" cy="369332"/>
          </a:xfrm>
          <a:prstGeom prst="rect">
            <a:avLst/>
          </a:prstGeom>
          <a:noFill/>
        </p:spPr>
        <p:txBody>
          <a:bodyPr wrap="none" rtlCol="0">
            <a:spAutoFit/>
          </a:bodyPr>
          <a:lstStyle/>
          <a:p>
            <a:endParaRPr lang="en-US" dirty="0"/>
          </a:p>
        </p:txBody>
      </p:sp>
      <p:sp>
        <p:nvSpPr>
          <p:cNvPr id="7" name="Content Placeholder 2">
            <a:extLst>
              <a:ext uri="{FF2B5EF4-FFF2-40B4-BE49-F238E27FC236}">
                <a16:creationId xmlns:a16="http://schemas.microsoft.com/office/drawing/2014/main" id="{39D6A29D-78B2-42CB-BF0A-B9482FAC402E}"/>
              </a:ext>
            </a:extLst>
          </p:cNvPr>
          <p:cNvSpPr>
            <a:spLocks noGrp="1"/>
          </p:cNvSpPr>
          <p:nvPr>
            <p:ph sz="quarter" idx="13"/>
          </p:nvPr>
        </p:nvSpPr>
        <p:spPr>
          <a:xfrm>
            <a:off x="609600" y="1676400"/>
            <a:ext cx="10972800" cy="3962400"/>
          </a:xfrm>
        </p:spPr>
        <p:txBody>
          <a:bodyPr>
            <a:normAutofit/>
          </a:bodyPr>
          <a:lstStyle/>
          <a:p>
            <a:pPr algn="just">
              <a:buFont typeface="Arial" panose="020B0604020202020204" pitchFamily="34" charset="0"/>
              <a:buChar char="•"/>
            </a:pPr>
            <a:r>
              <a:rPr lang="en-US" sz="2800" b="0" i="0" dirty="0">
                <a:solidFill>
                  <a:schemeClr val="tx1"/>
                </a:solidFill>
                <a:effectLst/>
                <a:latin typeface="Times New Roman" panose="02020603050405020304" pitchFamily="18" charset="0"/>
                <a:cs typeface="Times New Roman" panose="02020603050405020304" pitchFamily="18" charset="0"/>
              </a:rPr>
              <a:t>Pneumonia is a life-threatening respiratory infection.</a:t>
            </a:r>
          </a:p>
          <a:p>
            <a:pPr algn="just">
              <a:buFont typeface="Arial" panose="020B0604020202020204" pitchFamily="34" charset="0"/>
              <a:buChar char="•"/>
            </a:pPr>
            <a:r>
              <a:rPr lang="en-US" sz="2800" b="0" i="0" dirty="0">
                <a:solidFill>
                  <a:schemeClr val="tx1"/>
                </a:solidFill>
                <a:effectLst/>
                <a:latin typeface="Times New Roman" panose="02020603050405020304" pitchFamily="18" charset="0"/>
                <a:cs typeface="Times New Roman" panose="02020603050405020304" pitchFamily="18" charset="0"/>
              </a:rPr>
              <a:t>Early and accurate detection can save lives, especially for children and elderly.</a:t>
            </a:r>
          </a:p>
          <a:p>
            <a:pPr algn="just">
              <a:buFont typeface="Arial" panose="020B0604020202020204" pitchFamily="34" charset="0"/>
              <a:buChar char="•"/>
            </a:pPr>
            <a:r>
              <a:rPr lang="en-US" sz="2800" b="0" i="0" dirty="0">
                <a:solidFill>
                  <a:schemeClr val="tx1"/>
                </a:solidFill>
                <a:effectLst/>
                <a:latin typeface="Times New Roman" panose="02020603050405020304" pitchFamily="18" charset="0"/>
                <a:cs typeface="Times New Roman" panose="02020603050405020304" pitchFamily="18" charset="0"/>
              </a:rPr>
              <a:t>Chest X-ray is the most accessible imaging for diagnosis but interpretation suffers from human subjectivity and time constraints.</a:t>
            </a:r>
          </a:p>
          <a:p>
            <a:pPr algn="just">
              <a:buFont typeface="Arial" panose="020B0604020202020204" pitchFamily="34" charset="0"/>
              <a:buChar char="•"/>
            </a:pPr>
            <a:r>
              <a:rPr lang="en-US" sz="2800" b="0" dirty="0">
                <a:solidFill>
                  <a:schemeClr val="tx1"/>
                </a:solidFill>
                <a:effectLst/>
                <a:latin typeface="Times New Roman" panose="02020603050405020304" pitchFamily="18" charset="0"/>
                <a:cs typeface="Times New Roman" panose="02020603050405020304" pitchFamily="18" charset="0"/>
              </a:rPr>
              <a:t>Deep learning </a:t>
            </a:r>
            <a:r>
              <a:rPr lang="en-US" sz="2800" b="0" i="0" dirty="0">
                <a:solidFill>
                  <a:schemeClr val="tx1"/>
                </a:solidFill>
                <a:effectLst/>
                <a:latin typeface="Times New Roman" panose="02020603050405020304" pitchFamily="18" charset="0"/>
                <a:cs typeface="Times New Roman" panose="02020603050405020304" pitchFamily="18" charset="0"/>
              </a:rPr>
              <a:t>can automate and improve diagnostic accuracy.</a:t>
            </a:r>
          </a:p>
          <a:p>
            <a:pPr marL="0" indent="0" algn="just">
              <a:buNone/>
            </a:pPr>
            <a:endParaRPr lang="en-US" sz="18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4" name="Slide Number Placeholder 3"/>
          <p:cNvSpPr>
            <a:spLocks noGrp="1"/>
          </p:cNvSpPr>
          <p:nvPr>
            <p:ph type="sldNum" sz="quarter" idx="16"/>
          </p:nvPr>
        </p:nvSpPr>
        <p:spPr>
          <a:xfrm>
            <a:off x="9350248" y="5989637"/>
            <a:ext cx="2844800" cy="365125"/>
          </a:xfrm>
        </p:spPr>
        <p:txBody>
          <a:bodyPr/>
          <a:lstStyle/>
          <a:p>
            <a:pPr>
              <a:defRPr/>
            </a:pPr>
            <a:fld id="{4CD333A3-7515-47B8-9EDC-EE0892D9C861}" type="slidenum">
              <a:rPr lang="en-US" smtClean="0"/>
              <a:pPr>
                <a:defRPr/>
              </a:pPr>
              <a:t>4</a:t>
            </a:fld>
            <a:endParaRPr lang="en-US" dirty="0"/>
          </a:p>
        </p:txBody>
      </p:sp>
      <p:sp>
        <p:nvSpPr>
          <p:cNvPr id="5" name="TextBox 4">
            <a:extLst>
              <a:ext uri="{FF2B5EF4-FFF2-40B4-BE49-F238E27FC236}">
                <a16:creationId xmlns:a16="http://schemas.microsoft.com/office/drawing/2014/main" id="{C7B064D8-8C59-7D9E-B404-8CE93061EC3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a:extLst>
              <a:ext uri="{FF2B5EF4-FFF2-40B4-BE49-F238E27FC236}">
                <a16:creationId xmlns:a16="http://schemas.microsoft.com/office/drawing/2014/main" id="{9FFFDE41-640A-4473-B218-5513D9F71D21}"/>
              </a:ext>
            </a:extLst>
          </p:cNvPr>
          <p:cNvSpPr>
            <a:spLocks noGrp="1"/>
          </p:cNvSpPr>
          <p:nvPr>
            <p:ph sz="quarter" idx="13"/>
          </p:nvPr>
        </p:nvSpPr>
        <p:spPr>
          <a:xfrm>
            <a:off x="609600" y="1676400"/>
            <a:ext cx="10972800" cy="3962400"/>
          </a:xfrm>
        </p:spPr>
        <p:txBody>
          <a:bodyPr>
            <a:normAutofit/>
          </a:bodyPr>
          <a:lstStyle/>
          <a:p>
            <a:pPr algn="just">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L</a:t>
            </a:r>
            <a:r>
              <a:rPr lang="en-US" sz="2800" b="0" i="0" dirty="0">
                <a:solidFill>
                  <a:schemeClr val="tx1"/>
                </a:solidFill>
                <a:effectLst/>
                <a:latin typeface="Times New Roman" panose="02020603050405020304" pitchFamily="18" charset="0"/>
                <a:cs typeface="Times New Roman" panose="02020603050405020304" pitchFamily="18" charset="0"/>
              </a:rPr>
              <a:t>everaging </a:t>
            </a:r>
            <a:r>
              <a:rPr lang="en-US" sz="2800" b="0" dirty="0">
                <a:solidFill>
                  <a:schemeClr val="tx1"/>
                </a:solidFill>
                <a:effectLst/>
                <a:latin typeface="Times New Roman" panose="02020603050405020304" pitchFamily="18" charset="0"/>
                <a:cs typeface="Times New Roman" panose="02020603050405020304" pitchFamily="18" charset="0"/>
              </a:rPr>
              <a:t>deep learning </a:t>
            </a:r>
            <a:r>
              <a:rPr lang="en-US" sz="2800" b="0" i="0" dirty="0">
                <a:solidFill>
                  <a:schemeClr val="tx1"/>
                </a:solidFill>
                <a:effectLst/>
                <a:latin typeface="Times New Roman" panose="02020603050405020304" pitchFamily="18" charset="0"/>
                <a:cs typeface="Times New Roman" panose="02020603050405020304" pitchFamily="18" charset="0"/>
              </a:rPr>
              <a:t>for better X-ray analysis.</a:t>
            </a:r>
          </a:p>
          <a:p>
            <a:pPr algn="just">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I</a:t>
            </a:r>
            <a:r>
              <a:rPr lang="en-US" sz="2800" b="0" i="0" dirty="0">
                <a:solidFill>
                  <a:schemeClr val="tx1"/>
                </a:solidFill>
                <a:effectLst/>
                <a:latin typeface="Times New Roman" panose="02020603050405020304" pitchFamily="18" charset="0"/>
                <a:cs typeface="Times New Roman" panose="02020603050405020304" pitchFamily="18" charset="0"/>
              </a:rPr>
              <a:t>mproving performance, generalizability and robustness by using an ensemble (hybrid) approach.</a:t>
            </a:r>
          </a:p>
          <a:p>
            <a:pPr algn="just">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L</a:t>
            </a:r>
            <a:r>
              <a:rPr lang="en-US" sz="2800" b="0" i="0" dirty="0">
                <a:solidFill>
                  <a:schemeClr val="tx1"/>
                </a:solidFill>
                <a:effectLst/>
                <a:latin typeface="Times New Roman" panose="02020603050405020304" pitchFamily="18" charset="0"/>
                <a:cs typeface="Times New Roman" panose="02020603050405020304" pitchFamily="18" charset="0"/>
              </a:rPr>
              <a:t>everaging </a:t>
            </a:r>
            <a:r>
              <a:rPr lang="en-US" sz="2800" dirty="0">
                <a:solidFill>
                  <a:schemeClr val="tx1"/>
                </a:solidFill>
                <a:latin typeface="Times New Roman" pitchFamily="18" charset="0"/>
                <a:cs typeface="Times New Roman" pitchFamily="18" charset="0"/>
              </a:rPr>
              <a:t>explainable AI (XAI) </a:t>
            </a:r>
            <a:r>
              <a:rPr lang="en-US" sz="2800" b="0" i="0" dirty="0">
                <a:solidFill>
                  <a:schemeClr val="tx1"/>
                </a:solidFill>
                <a:effectLst/>
                <a:latin typeface="Times New Roman" panose="02020603050405020304" pitchFamily="18" charset="0"/>
                <a:cs typeface="Times New Roman" panose="02020603050405020304" pitchFamily="18" charset="0"/>
              </a:rPr>
              <a:t>to achieve better interpretability and transparency in model's decision-making process.</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5</a:t>
            </a:fld>
            <a:endParaRPr lang="en-US" dirty="0"/>
          </a:p>
        </p:txBody>
      </p:sp>
      <p:sp>
        <p:nvSpPr>
          <p:cNvPr id="6" name="TextBox 5">
            <a:extLst>
              <a:ext uri="{FF2B5EF4-FFF2-40B4-BE49-F238E27FC236}">
                <a16:creationId xmlns:a16="http://schemas.microsoft.com/office/drawing/2014/main"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11" name="Content Placeholder 10">
            <a:extLst>
              <a:ext uri="{FF2B5EF4-FFF2-40B4-BE49-F238E27FC236}">
                <a16:creationId xmlns:a16="http://schemas.microsoft.com/office/drawing/2014/main" id="{704C0DC6-E21D-B4BB-B127-325FB3D4F583}"/>
              </a:ext>
            </a:extLst>
          </p:cNvPr>
          <p:cNvSpPr>
            <a:spLocks noGrp="1"/>
          </p:cNvSpPr>
          <p:nvPr>
            <p:ph sz="quarter" idx="13"/>
          </p:nvPr>
        </p:nvSpPr>
        <p:spPr>
          <a:xfrm>
            <a:off x="609600" y="2011362"/>
            <a:ext cx="10972800" cy="3627438"/>
          </a:xfrm>
        </p:spPr>
        <p:txBody>
          <a:bodyPr/>
          <a:lstStyle/>
          <a:p>
            <a:endParaRPr lang="en-US"/>
          </a:p>
        </p:txBody>
      </p:sp>
      <p:pic>
        <p:nvPicPr>
          <p:cNvPr id="7" name="table">
            <a:extLst>
              <a:ext uri="{FF2B5EF4-FFF2-40B4-BE49-F238E27FC236}">
                <a16:creationId xmlns:a16="http://schemas.microsoft.com/office/drawing/2014/main" id="{C7EDF731-0035-453F-A46E-8C98DE8C33A9}"/>
              </a:ext>
            </a:extLst>
          </p:cNvPr>
          <p:cNvPicPr>
            <a:picLocks noChangeAspect="1"/>
          </p:cNvPicPr>
          <p:nvPr/>
        </p:nvPicPr>
        <p:blipFill>
          <a:blip r:embed="rId2"/>
          <a:stretch>
            <a:fillRect/>
          </a:stretch>
        </p:blipFill>
        <p:spPr>
          <a:xfrm>
            <a:off x="342900" y="1074420"/>
            <a:ext cx="11506200" cy="4869180"/>
          </a:xfrm>
          <a:prstGeom prst="rect">
            <a:avLst/>
          </a:prstGeom>
        </p:spPr>
      </p:pic>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6</a:t>
            </a:fld>
            <a:endParaRPr lang="en-US" dirty="0"/>
          </a:p>
        </p:txBody>
      </p:sp>
      <p:sp>
        <p:nvSpPr>
          <p:cNvPr id="6" name="TextBox 5">
            <a:extLst>
              <a:ext uri="{FF2B5EF4-FFF2-40B4-BE49-F238E27FC236}">
                <a16:creationId xmlns:a16="http://schemas.microsoft.com/office/drawing/2014/main"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11" name="Content Placeholder 10">
            <a:extLst>
              <a:ext uri="{FF2B5EF4-FFF2-40B4-BE49-F238E27FC236}">
                <a16:creationId xmlns:a16="http://schemas.microsoft.com/office/drawing/2014/main" id="{704C0DC6-E21D-B4BB-B127-325FB3D4F583}"/>
              </a:ext>
            </a:extLst>
          </p:cNvPr>
          <p:cNvSpPr>
            <a:spLocks noGrp="1"/>
          </p:cNvSpPr>
          <p:nvPr>
            <p:ph sz="quarter" idx="13"/>
          </p:nvPr>
        </p:nvSpPr>
        <p:spPr>
          <a:xfrm>
            <a:off x="609600" y="2011362"/>
            <a:ext cx="10972800" cy="3627438"/>
          </a:xfrm>
        </p:spPr>
        <p:txBody>
          <a:bodyPr/>
          <a:lstStyle/>
          <a:p>
            <a:endParaRPr lang="en-US" dirty="0"/>
          </a:p>
        </p:txBody>
      </p:sp>
      <p:pic>
        <p:nvPicPr>
          <p:cNvPr id="8" name="table">
            <a:extLst>
              <a:ext uri="{FF2B5EF4-FFF2-40B4-BE49-F238E27FC236}">
                <a16:creationId xmlns:a16="http://schemas.microsoft.com/office/drawing/2014/main" id="{69301ECA-3E29-4EAD-AEFB-54469ABC8AD1}"/>
              </a:ext>
            </a:extLst>
          </p:cNvPr>
          <p:cNvPicPr>
            <a:picLocks noChangeAspect="1"/>
          </p:cNvPicPr>
          <p:nvPr/>
        </p:nvPicPr>
        <p:blipFill>
          <a:blip r:embed="rId2"/>
          <a:stretch>
            <a:fillRect/>
          </a:stretch>
        </p:blipFill>
        <p:spPr>
          <a:xfrm>
            <a:off x="419100" y="1066800"/>
            <a:ext cx="11425404" cy="4863516"/>
          </a:xfrm>
          <a:prstGeom prst="rect">
            <a:avLst/>
          </a:prstGeom>
        </p:spPr>
      </p:pic>
    </p:spTree>
    <p:extLst>
      <p:ext uri="{BB962C8B-B14F-4D97-AF65-F5344CB8AC3E}">
        <p14:creationId xmlns:p14="http://schemas.microsoft.com/office/powerpoint/2010/main" val="2125498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7</a:t>
            </a:fld>
            <a:endParaRPr lang="en-US" dirty="0"/>
          </a:p>
        </p:txBody>
      </p:sp>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a:extLst>
              <a:ext uri="{FF2B5EF4-FFF2-40B4-BE49-F238E27FC236}">
                <a16:creationId xmlns:a16="http://schemas.microsoft.com/office/drawing/2014/main" id="{3B9FBB5D-0736-4631-A695-0F86E0C4FB39}"/>
              </a:ext>
            </a:extLst>
          </p:cNvPr>
          <p:cNvSpPr>
            <a:spLocks noGrp="1"/>
          </p:cNvSpPr>
          <p:nvPr>
            <p:ph sz="quarter" idx="13"/>
          </p:nvPr>
        </p:nvSpPr>
        <p:spPr>
          <a:xfrm>
            <a:off x="609600" y="1143000"/>
            <a:ext cx="10972800" cy="4495800"/>
          </a:xfrm>
        </p:spPr>
        <p:txBody>
          <a:bodyPr>
            <a:noAutofit/>
          </a:bodyPr>
          <a:lstStyle/>
          <a:p>
            <a:pPr algn="just">
              <a:lnSpc>
                <a:spcPct val="120000"/>
              </a:lnSpc>
            </a:pPr>
            <a:r>
              <a:rPr lang="en-US" sz="2000" b="1" dirty="0">
                <a:solidFill>
                  <a:schemeClr val="tx1"/>
                </a:solidFill>
                <a:latin typeface="Times New Roman" pitchFamily="18" charset="0"/>
                <a:cs typeface="Times New Roman" pitchFamily="18" charset="0"/>
              </a:rPr>
              <a:t>High Computational Cost: </a:t>
            </a:r>
          </a:p>
          <a:p>
            <a:pPr marL="400050" lvl="1" indent="0" algn="just">
              <a:lnSpc>
                <a:spcPct val="120000"/>
              </a:lnSpc>
              <a:buNone/>
            </a:pPr>
            <a:r>
              <a:rPr lang="en-US" sz="2000" dirty="0">
                <a:solidFill>
                  <a:schemeClr val="tx1"/>
                </a:solidFill>
                <a:latin typeface="Times New Roman" pitchFamily="18" charset="0"/>
                <a:cs typeface="Times New Roman" pitchFamily="18" charset="0"/>
              </a:rPr>
              <a:t>Deep learning models like VGG16 require significant resources, making them impractical for resource-limited settings. The hybrid Shallow CNN + VGG16 model balances accuracy and efficiency for real-time use.</a:t>
            </a:r>
          </a:p>
          <a:p>
            <a:pPr algn="just">
              <a:lnSpc>
                <a:spcPct val="120000"/>
              </a:lnSpc>
            </a:pPr>
            <a:r>
              <a:rPr lang="en-US" sz="2000" b="1" dirty="0">
                <a:solidFill>
                  <a:schemeClr val="tx1"/>
                </a:solidFill>
                <a:latin typeface="Times New Roman" pitchFamily="18" charset="0"/>
                <a:cs typeface="Times New Roman" pitchFamily="18" charset="0"/>
              </a:rPr>
              <a:t>Dataset Imbalance: </a:t>
            </a:r>
          </a:p>
          <a:p>
            <a:pPr marL="400050" lvl="1" indent="0" algn="just">
              <a:lnSpc>
                <a:spcPct val="120000"/>
              </a:lnSpc>
              <a:buNone/>
            </a:pPr>
            <a:r>
              <a:rPr lang="en-US" sz="2000" dirty="0">
                <a:solidFill>
                  <a:schemeClr val="tx1"/>
                </a:solidFill>
                <a:latin typeface="Times New Roman" pitchFamily="18" charset="0"/>
                <a:cs typeface="Times New Roman" pitchFamily="18" charset="0"/>
              </a:rPr>
              <a:t>Existing models struggle with unbalanced datasets, but the hybrid model improves detection reliability in diverse conditions.</a:t>
            </a:r>
          </a:p>
          <a:p>
            <a:pPr algn="just">
              <a:lnSpc>
                <a:spcPct val="120000"/>
              </a:lnSpc>
            </a:pPr>
            <a:r>
              <a:rPr lang="en-US" sz="2000" b="1" dirty="0">
                <a:solidFill>
                  <a:schemeClr val="tx1"/>
                </a:solidFill>
                <a:latin typeface="Times New Roman" pitchFamily="18" charset="0"/>
                <a:cs typeface="Times New Roman" pitchFamily="18" charset="0"/>
              </a:rPr>
              <a:t>Lack of Explainability: </a:t>
            </a:r>
          </a:p>
          <a:p>
            <a:pPr marL="400050" lvl="1" indent="0" algn="just">
              <a:lnSpc>
                <a:spcPct val="120000"/>
              </a:lnSpc>
              <a:buNone/>
            </a:pPr>
            <a:r>
              <a:rPr lang="en-US" sz="2000" dirty="0">
                <a:solidFill>
                  <a:schemeClr val="tx1"/>
                </a:solidFill>
                <a:latin typeface="Times New Roman" pitchFamily="18" charset="0"/>
                <a:cs typeface="Times New Roman" pitchFamily="18" charset="0"/>
              </a:rPr>
              <a:t>Traditional models lack transparency. The hybrid model incorporates explainable AI (XAI) techniques like LIME and SHAP for clearer, more trustworthy predictions.</a:t>
            </a:r>
          </a:p>
        </p:txBody>
      </p:sp>
    </p:spTree>
    <p:extLst>
      <p:ext uri="{BB962C8B-B14F-4D97-AF65-F5344CB8AC3E}">
        <p14:creationId xmlns:p14="http://schemas.microsoft.com/office/powerpoint/2010/main" val="825664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06973"/>
            <a:ext cx="8229600" cy="868362"/>
          </a:xfrm>
        </p:spPr>
        <p:txBody>
          <a:bodyPr>
            <a:normAutofit fontScale="90000"/>
          </a:bodyPr>
          <a:lstStyle/>
          <a:p>
            <a:r>
              <a:rPr lang="en-US" dirty="0">
                <a:solidFill>
                  <a:srgbClr val="7030A0"/>
                </a:solidFill>
                <a:latin typeface="Times New Roman" panose="02020603050405020304" pitchFamily="18" charset="0"/>
                <a:cs typeface="Times New Roman" panose="02020603050405020304" pitchFamily="18" charset="0"/>
              </a:rPr>
              <a:t>Methodology: Workflow Diagram</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8</a:t>
            </a:fld>
            <a:endParaRPr lang="en-US" dirty="0"/>
          </a:p>
        </p:txBody>
      </p:sp>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8" name="Picture 7">
            <a:extLst>
              <a:ext uri="{FF2B5EF4-FFF2-40B4-BE49-F238E27FC236}">
                <a16:creationId xmlns:a16="http://schemas.microsoft.com/office/drawing/2014/main" id="{F622C1BC-2380-4C6D-878D-F06D758A1B9B}"/>
              </a:ext>
            </a:extLst>
          </p:cNvPr>
          <p:cNvPicPr>
            <a:picLocks noChangeAspect="1"/>
          </p:cNvPicPr>
          <p:nvPr/>
        </p:nvPicPr>
        <p:blipFill>
          <a:blip r:embed="rId2"/>
          <a:stretch>
            <a:fillRect/>
          </a:stretch>
        </p:blipFill>
        <p:spPr>
          <a:xfrm>
            <a:off x="7660592" y="1159155"/>
            <a:ext cx="1863713" cy="2855723"/>
          </a:xfrm>
          <a:prstGeom prst="rect">
            <a:avLst/>
          </a:prstGeom>
        </p:spPr>
      </p:pic>
      <p:sp>
        <p:nvSpPr>
          <p:cNvPr id="9" name="Rectangle: Rounded Corners 8">
            <a:extLst>
              <a:ext uri="{FF2B5EF4-FFF2-40B4-BE49-F238E27FC236}">
                <a16:creationId xmlns:a16="http://schemas.microsoft.com/office/drawing/2014/main" id="{FEBFD3C1-3B90-45B5-B7E0-462637CCA4CF}"/>
              </a:ext>
            </a:extLst>
          </p:cNvPr>
          <p:cNvSpPr/>
          <p:nvPr/>
        </p:nvSpPr>
        <p:spPr>
          <a:xfrm>
            <a:off x="1958509" y="998894"/>
            <a:ext cx="5333133" cy="320039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pic>
        <p:nvPicPr>
          <p:cNvPr id="10" name="Picture 9">
            <a:extLst>
              <a:ext uri="{FF2B5EF4-FFF2-40B4-BE49-F238E27FC236}">
                <a16:creationId xmlns:a16="http://schemas.microsoft.com/office/drawing/2014/main" id="{490278D1-4AE2-44B2-8E7F-314F17F40C8A}"/>
              </a:ext>
            </a:extLst>
          </p:cNvPr>
          <p:cNvPicPr>
            <a:picLocks noChangeAspect="1"/>
          </p:cNvPicPr>
          <p:nvPr/>
        </p:nvPicPr>
        <p:blipFill>
          <a:blip r:embed="rId3"/>
          <a:stretch>
            <a:fillRect/>
          </a:stretch>
        </p:blipFill>
        <p:spPr>
          <a:xfrm>
            <a:off x="5738328" y="1204597"/>
            <a:ext cx="1396105" cy="2678205"/>
          </a:xfrm>
          <a:prstGeom prst="rect">
            <a:avLst/>
          </a:prstGeom>
        </p:spPr>
      </p:pic>
      <p:pic>
        <p:nvPicPr>
          <p:cNvPr id="11" name="Picture 10">
            <a:extLst>
              <a:ext uri="{FF2B5EF4-FFF2-40B4-BE49-F238E27FC236}">
                <a16:creationId xmlns:a16="http://schemas.microsoft.com/office/drawing/2014/main" id="{0FACCDEF-5C55-4E8E-BC22-9E82F7505DF1}"/>
              </a:ext>
            </a:extLst>
          </p:cNvPr>
          <p:cNvPicPr>
            <a:picLocks noChangeAspect="1"/>
          </p:cNvPicPr>
          <p:nvPr/>
        </p:nvPicPr>
        <p:blipFill>
          <a:blip r:embed="rId3"/>
          <a:stretch>
            <a:fillRect/>
          </a:stretch>
        </p:blipFill>
        <p:spPr>
          <a:xfrm>
            <a:off x="2262763" y="1182202"/>
            <a:ext cx="1706661" cy="2700919"/>
          </a:xfrm>
          <a:prstGeom prst="rect">
            <a:avLst/>
          </a:prstGeom>
        </p:spPr>
      </p:pic>
      <p:sp>
        <p:nvSpPr>
          <p:cNvPr id="12" name="Rectangle: Rounded Corners 11">
            <a:extLst>
              <a:ext uri="{FF2B5EF4-FFF2-40B4-BE49-F238E27FC236}">
                <a16:creationId xmlns:a16="http://schemas.microsoft.com/office/drawing/2014/main" id="{61487B5D-ED8F-4236-B825-1B3E6C899CDB}"/>
              </a:ext>
            </a:extLst>
          </p:cNvPr>
          <p:cNvSpPr/>
          <p:nvPr/>
        </p:nvSpPr>
        <p:spPr>
          <a:xfrm>
            <a:off x="265111" y="2214657"/>
            <a:ext cx="1223232" cy="2807193"/>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sz="1200" b="1" dirty="0"/>
          </a:p>
        </p:txBody>
      </p:sp>
      <p:sp>
        <p:nvSpPr>
          <p:cNvPr id="13" name="Cylinder 12">
            <a:extLst>
              <a:ext uri="{FF2B5EF4-FFF2-40B4-BE49-F238E27FC236}">
                <a16:creationId xmlns:a16="http://schemas.microsoft.com/office/drawing/2014/main" id="{1B05CB50-2493-43EF-B9C4-F33E3714D00D}"/>
              </a:ext>
            </a:extLst>
          </p:cNvPr>
          <p:cNvSpPr/>
          <p:nvPr/>
        </p:nvSpPr>
        <p:spPr>
          <a:xfrm>
            <a:off x="4220880" y="1242108"/>
            <a:ext cx="1295399" cy="2575017"/>
          </a:xfrm>
          <a:prstGeom prst="can">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sp>
        <p:nvSpPr>
          <p:cNvPr id="14" name="Diamond 13">
            <a:extLst>
              <a:ext uri="{FF2B5EF4-FFF2-40B4-BE49-F238E27FC236}">
                <a16:creationId xmlns:a16="http://schemas.microsoft.com/office/drawing/2014/main" id="{17740726-30C9-4BE8-8E93-CBD9C5B877B0}"/>
              </a:ext>
            </a:extLst>
          </p:cNvPr>
          <p:cNvSpPr/>
          <p:nvPr/>
        </p:nvSpPr>
        <p:spPr>
          <a:xfrm>
            <a:off x="9873259" y="1524943"/>
            <a:ext cx="1698734" cy="1307705"/>
          </a:xfrm>
          <a:prstGeom prst="diamond">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dirty="0"/>
              <a:t>Model Evaluation</a:t>
            </a:r>
          </a:p>
        </p:txBody>
      </p:sp>
      <p:pic>
        <p:nvPicPr>
          <p:cNvPr id="15" name="Picture 14">
            <a:extLst>
              <a:ext uri="{FF2B5EF4-FFF2-40B4-BE49-F238E27FC236}">
                <a16:creationId xmlns:a16="http://schemas.microsoft.com/office/drawing/2014/main" id="{2F512653-F3E7-4A85-9CB0-856C559D66BC}"/>
              </a:ext>
            </a:extLst>
          </p:cNvPr>
          <p:cNvPicPr>
            <a:picLocks noChangeAspect="1"/>
          </p:cNvPicPr>
          <p:nvPr/>
        </p:nvPicPr>
        <p:blipFill>
          <a:blip r:embed="rId4"/>
          <a:stretch>
            <a:fillRect/>
          </a:stretch>
        </p:blipFill>
        <p:spPr>
          <a:xfrm>
            <a:off x="9743535" y="3376882"/>
            <a:ext cx="2133001" cy="2735227"/>
          </a:xfrm>
          <a:prstGeom prst="rect">
            <a:avLst/>
          </a:prstGeom>
        </p:spPr>
      </p:pic>
      <p:sp>
        <p:nvSpPr>
          <p:cNvPr id="16" name="Rectangle: Single Corner Rounded 15">
            <a:extLst>
              <a:ext uri="{FF2B5EF4-FFF2-40B4-BE49-F238E27FC236}">
                <a16:creationId xmlns:a16="http://schemas.microsoft.com/office/drawing/2014/main" id="{C7F10CFF-9C24-4E85-AA35-7D8DEFA391CC}"/>
              </a:ext>
            </a:extLst>
          </p:cNvPr>
          <p:cNvSpPr/>
          <p:nvPr/>
        </p:nvSpPr>
        <p:spPr>
          <a:xfrm>
            <a:off x="7848600" y="4715612"/>
            <a:ext cx="1523679" cy="1088670"/>
          </a:xfrm>
          <a:prstGeom prst="round1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a:t>Model Selection (Ensemble)</a:t>
            </a:r>
          </a:p>
        </p:txBody>
      </p:sp>
      <p:sp>
        <p:nvSpPr>
          <p:cNvPr id="17" name="Cube 16">
            <a:extLst>
              <a:ext uri="{FF2B5EF4-FFF2-40B4-BE49-F238E27FC236}">
                <a16:creationId xmlns:a16="http://schemas.microsoft.com/office/drawing/2014/main" id="{03AF9D89-D7E2-47BC-8766-C4B0FFEE3898}"/>
              </a:ext>
            </a:extLst>
          </p:cNvPr>
          <p:cNvSpPr/>
          <p:nvPr/>
        </p:nvSpPr>
        <p:spPr>
          <a:xfrm>
            <a:off x="9944715" y="3546224"/>
            <a:ext cx="1372550" cy="608076"/>
          </a:xfrm>
          <a:prstGeom prst="cub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Confusion Matrix</a:t>
            </a:r>
          </a:p>
        </p:txBody>
      </p:sp>
      <p:sp>
        <p:nvSpPr>
          <p:cNvPr id="18" name="Cylinder 17">
            <a:extLst>
              <a:ext uri="{FF2B5EF4-FFF2-40B4-BE49-F238E27FC236}">
                <a16:creationId xmlns:a16="http://schemas.microsoft.com/office/drawing/2014/main" id="{D18514C5-8398-4A41-BA7B-C3CC206B3263}"/>
              </a:ext>
            </a:extLst>
          </p:cNvPr>
          <p:cNvSpPr/>
          <p:nvPr/>
        </p:nvSpPr>
        <p:spPr>
          <a:xfrm>
            <a:off x="2457295" y="1591056"/>
            <a:ext cx="1312201" cy="675838"/>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VGG16 Architecture(Freeze Pre-trained Layers)</a:t>
            </a:r>
          </a:p>
        </p:txBody>
      </p:sp>
      <p:sp>
        <p:nvSpPr>
          <p:cNvPr id="19" name="Cylinder 18">
            <a:extLst>
              <a:ext uri="{FF2B5EF4-FFF2-40B4-BE49-F238E27FC236}">
                <a16:creationId xmlns:a16="http://schemas.microsoft.com/office/drawing/2014/main" id="{9C7C7B4B-5A67-422B-9072-C1CEB845B447}"/>
              </a:ext>
            </a:extLst>
          </p:cNvPr>
          <p:cNvSpPr/>
          <p:nvPr/>
        </p:nvSpPr>
        <p:spPr>
          <a:xfrm>
            <a:off x="2444182" y="2306939"/>
            <a:ext cx="1338425" cy="702802"/>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000" dirty="0"/>
              <a:t>Shallow CNN Architecture (Dropout/regularization)</a:t>
            </a:r>
          </a:p>
        </p:txBody>
      </p:sp>
      <p:sp>
        <p:nvSpPr>
          <p:cNvPr id="20" name="Cylinder 19">
            <a:extLst>
              <a:ext uri="{FF2B5EF4-FFF2-40B4-BE49-F238E27FC236}">
                <a16:creationId xmlns:a16="http://schemas.microsoft.com/office/drawing/2014/main" id="{EDE31EB5-2A9F-4209-82E6-4BD73F54EBE7}"/>
              </a:ext>
            </a:extLst>
          </p:cNvPr>
          <p:cNvSpPr/>
          <p:nvPr/>
        </p:nvSpPr>
        <p:spPr>
          <a:xfrm>
            <a:off x="2445574" y="3102174"/>
            <a:ext cx="1337161" cy="465142"/>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Soft Voting</a:t>
            </a:r>
          </a:p>
        </p:txBody>
      </p:sp>
      <p:sp>
        <p:nvSpPr>
          <p:cNvPr id="21" name="Cylinder 20">
            <a:extLst>
              <a:ext uri="{FF2B5EF4-FFF2-40B4-BE49-F238E27FC236}">
                <a16:creationId xmlns:a16="http://schemas.microsoft.com/office/drawing/2014/main" id="{D79E7F61-EC38-4104-BFD1-C00044F94C0E}"/>
              </a:ext>
            </a:extLst>
          </p:cNvPr>
          <p:cNvSpPr/>
          <p:nvPr/>
        </p:nvSpPr>
        <p:spPr>
          <a:xfrm>
            <a:off x="4373312" y="1607845"/>
            <a:ext cx="996066" cy="591364"/>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Train VGG16</a:t>
            </a:r>
          </a:p>
        </p:txBody>
      </p:sp>
      <p:sp>
        <p:nvSpPr>
          <p:cNvPr id="22" name="Cylinder 21">
            <a:extLst>
              <a:ext uri="{FF2B5EF4-FFF2-40B4-BE49-F238E27FC236}">
                <a16:creationId xmlns:a16="http://schemas.microsoft.com/office/drawing/2014/main" id="{455DBCC7-4E34-49EE-B70E-C076245791B3}"/>
              </a:ext>
            </a:extLst>
          </p:cNvPr>
          <p:cNvSpPr/>
          <p:nvPr/>
        </p:nvSpPr>
        <p:spPr>
          <a:xfrm>
            <a:off x="4373312" y="2269264"/>
            <a:ext cx="996066" cy="591363"/>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000" dirty="0"/>
              <a:t>Train Shallow CNN</a:t>
            </a:r>
          </a:p>
        </p:txBody>
      </p:sp>
      <p:sp>
        <p:nvSpPr>
          <p:cNvPr id="23" name="Cylinder 22">
            <a:extLst>
              <a:ext uri="{FF2B5EF4-FFF2-40B4-BE49-F238E27FC236}">
                <a16:creationId xmlns:a16="http://schemas.microsoft.com/office/drawing/2014/main" id="{1C1CC147-CC74-4B80-8CFF-467A70FFE720}"/>
              </a:ext>
            </a:extLst>
          </p:cNvPr>
          <p:cNvSpPr/>
          <p:nvPr/>
        </p:nvSpPr>
        <p:spPr>
          <a:xfrm>
            <a:off x="4390352" y="2993228"/>
            <a:ext cx="979025" cy="591363"/>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Hybrid Ensemble</a:t>
            </a:r>
          </a:p>
        </p:txBody>
      </p:sp>
      <p:sp>
        <p:nvSpPr>
          <p:cNvPr id="24" name="Cylinder 23">
            <a:extLst>
              <a:ext uri="{FF2B5EF4-FFF2-40B4-BE49-F238E27FC236}">
                <a16:creationId xmlns:a16="http://schemas.microsoft.com/office/drawing/2014/main" id="{DBE7C0CD-BDEE-4BEB-AD6D-1533BB2BF920}"/>
              </a:ext>
            </a:extLst>
          </p:cNvPr>
          <p:cNvSpPr/>
          <p:nvPr/>
        </p:nvSpPr>
        <p:spPr>
          <a:xfrm>
            <a:off x="5947238" y="1610671"/>
            <a:ext cx="914400" cy="591363"/>
          </a:xfrm>
          <a:prstGeom prst="can">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Evaluate VGG16</a:t>
            </a:r>
          </a:p>
        </p:txBody>
      </p:sp>
      <p:sp>
        <p:nvSpPr>
          <p:cNvPr id="25" name="Cylinder 24">
            <a:extLst>
              <a:ext uri="{FF2B5EF4-FFF2-40B4-BE49-F238E27FC236}">
                <a16:creationId xmlns:a16="http://schemas.microsoft.com/office/drawing/2014/main" id="{5D01D468-D37F-4672-87E0-A23FE4B5FE73}"/>
              </a:ext>
            </a:extLst>
          </p:cNvPr>
          <p:cNvSpPr/>
          <p:nvPr/>
        </p:nvSpPr>
        <p:spPr>
          <a:xfrm>
            <a:off x="5949415" y="2289432"/>
            <a:ext cx="912223" cy="591363"/>
          </a:xfrm>
          <a:prstGeom prst="can">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000" dirty="0"/>
              <a:t>Evaluate Shallow CNN</a:t>
            </a:r>
          </a:p>
        </p:txBody>
      </p:sp>
      <p:sp>
        <p:nvSpPr>
          <p:cNvPr id="26" name="Cylinder 25">
            <a:extLst>
              <a:ext uri="{FF2B5EF4-FFF2-40B4-BE49-F238E27FC236}">
                <a16:creationId xmlns:a16="http://schemas.microsoft.com/office/drawing/2014/main" id="{F4077896-4E04-4E24-8BCC-7AFE47A57CB0}"/>
              </a:ext>
            </a:extLst>
          </p:cNvPr>
          <p:cNvSpPr/>
          <p:nvPr/>
        </p:nvSpPr>
        <p:spPr>
          <a:xfrm>
            <a:off x="5962478" y="2980837"/>
            <a:ext cx="899160" cy="591363"/>
          </a:xfrm>
          <a:prstGeom prst="can">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Evaluate Ensemble</a:t>
            </a:r>
          </a:p>
        </p:txBody>
      </p:sp>
      <p:sp>
        <p:nvSpPr>
          <p:cNvPr id="27" name="Flowchart: Multidocument 26">
            <a:extLst>
              <a:ext uri="{FF2B5EF4-FFF2-40B4-BE49-F238E27FC236}">
                <a16:creationId xmlns:a16="http://schemas.microsoft.com/office/drawing/2014/main" id="{7D0827C3-A8D7-4BA7-A6D5-B46BB6813762}"/>
              </a:ext>
            </a:extLst>
          </p:cNvPr>
          <p:cNvSpPr/>
          <p:nvPr/>
        </p:nvSpPr>
        <p:spPr>
          <a:xfrm>
            <a:off x="8081479" y="1257743"/>
            <a:ext cx="1321280" cy="795450"/>
          </a:xfrm>
          <a:prstGeom prst="flowChartMultidocumen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000" dirty="0"/>
              <a:t>Grad-CAM Visualization(Generate Heatmap)</a:t>
            </a:r>
          </a:p>
        </p:txBody>
      </p:sp>
      <p:sp>
        <p:nvSpPr>
          <p:cNvPr id="28" name="Flowchart: Multidocument 27">
            <a:extLst>
              <a:ext uri="{FF2B5EF4-FFF2-40B4-BE49-F238E27FC236}">
                <a16:creationId xmlns:a16="http://schemas.microsoft.com/office/drawing/2014/main" id="{CF810179-3358-476E-94EC-DE378B4DD4F2}"/>
              </a:ext>
            </a:extLst>
          </p:cNvPr>
          <p:cNvSpPr/>
          <p:nvPr/>
        </p:nvSpPr>
        <p:spPr>
          <a:xfrm>
            <a:off x="8077125" y="2099324"/>
            <a:ext cx="1321280" cy="795450"/>
          </a:xfrm>
          <a:prstGeom prst="flowChartMultidocumen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LIME Explanation (Generate LIME Super-pixel)</a:t>
            </a:r>
          </a:p>
        </p:txBody>
      </p:sp>
      <p:sp>
        <p:nvSpPr>
          <p:cNvPr id="29" name="Flowchart: Multidocument 28">
            <a:extLst>
              <a:ext uri="{FF2B5EF4-FFF2-40B4-BE49-F238E27FC236}">
                <a16:creationId xmlns:a16="http://schemas.microsoft.com/office/drawing/2014/main" id="{E5D5E83E-DF23-43F7-8615-24416DB480FD}"/>
              </a:ext>
            </a:extLst>
          </p:cNvPr>
          <p:cNvSpPr/>
          <p:nvPr/>
        </p:nvSpPr>
        <p:spPr>
          <a:xfrm>
            <a:off x="8042929" y="2979157"/>
            <a:ext cx="1387371" cy="855786"/>
          </a:xfrm>
          <a:prstGeom prst="flowChartMultidocumen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000" dirty="0"/>
              <a:t>SHAP Explanation(Generate SHAP Heatmap)</a:t>
            </a:r>
          </a:p>
        </p:txBody>
      </p:sp>
      <p:sp>
        <p:nvSpPr>
          <p:cNvPr id="30" name="Cube 29">
            <a:extLst>
              <a:ext uri="{FF2B5EF4-FFF2-40B4-BE49-F238E27FC236}">
                <a16:creationId xmlns:a16="http://schemas.microsoft.com/office/drawing/2014/main" id="{17578416-64AA-4DBC-9009-9F4FE8F61F0B}"/>
              </a:ext>
            </a:extLst>
          </p:cNvPr>
          <p:cNvSpPr/>
          <p:nvPr/>
        </p:nvSpPr>
        <p:spPr>
          <a:xfrm>
            <a:off x="9929237" y="4322112"/>
            <a:ext cx="1372550" cy="608076"/>
          </a:xfrm>
          <a:prstGeom prst="cub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000" dirty="0"/>
              <a:t>Accuracy, Precision, Recall, F1-Score</a:t>
            </a:r>
          </a:p>
        </p:txBody>
      </p:sp>
      <p:sp>
        <p:nvSpPr>
          <p:cNvPr id="31" name="Cube 30">
            <a:extLst>
              <a:ext uri="{FF2B5EF4-FFF2-40B4-BE49-F238E27FC236}">
                <a16:creationId xmlns:a16="http://schemas.microsoft.com/office/drawing/2014/main" id="{90F6242A-9141-4239-9C2E-369D4ABAB263}"/>
              </a:ext>
            </a:extLst>
          </p:cNvPr>
          <p:cNvSpPr/>
          <p:nvPr/>
        </p:nvSpPr>
        <p:spPr>
          <a:xfrm>
            <a:off x="9929237" y="5098897"/>
            <a:ext cx="1372550" cy="608076"/>
          </a:xfrm>
          <a:prstGeom prst="cub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1000" dirty="0"/>
              <a:t>ROC Curve &amp; AUC</a:t>
            </a:r>
          </a:p>
        </p:txBody>
      </p:sp>
      <p:sp>
        <p:nvSpPr>
          <p:cNvPr id="32" name="Oval 31">
            <a:extLst>
              <a:ext uri="{FF2B5EF4-FFF2-40B4-BE49-F238E27FC236}">
                <a16:creationId xmlns:a16="http://schemas.microsoft.com/office/drawing/2014/main" id="{BE3D8292-297D-402E-8F20-DB2A5E962622}"/>
              </a:ext>
            </a:extLst>
          </p:cNvPr>
          <p:cNvSpPr/>
          <p:nvPr/>
        </p:nvSpPr>
        <p:spPr>
          <a:xfrm>
            <a:off x="5871669" y="4802746"/>
            <a:ext cx="1419973" cy="1001535"/>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a:t>Final Model Deployment</a:t>
            </a:r>
          </a:p>
        </p:txBody>
      </p:sp>
      <p:sp>
        <p:nvSpPr>
          <p:cNvPr id="33" name="Rectangle: Diagonal Corners Rounded 32">
            <a:extLst>
              <a:ext uri="{FF2B5EF4-FFF2-40B4-BE49-F238E27FC236}">
                <a16:creationId xmlns:a16="http://schemas.microsoft.com/office/drawing/2014/main" id="{AD6D9E4B-C334-4A8A-B158-11A05DD3BD8D}"/>
              </a:ext>
            </a:extLst>
          </p:cNvPr>
          <p:cNvSpPr/>
          <p:nvPr/>
        </p:nvSpPr>
        <p:spPr>
          <a:xfrm>
            <a:off x="374626" y="2399588"/>
            <a:ext cx="1021885" cy="639207"/>
          </a:xfrm>
          <a:prstGeom prst="round2Diag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000" dirty="0"/>
              <a:t>Normalization(Grayscale to RGB for VGG16</a:t>
            </a:r>
          </a:p>
        </p:txBody>
      </p:sp>
      <p:sp>
        <p:nvSpPr>
          <p:cNvPr id="34" name="Rectangle: Diagonal Corners Rounded 33">
            <a:extLst>
              <a:ext uri="{FF2B5EF4-FFF2-40B4-BE49-F238E27FC236}">
                <a16:creationId xmlns:a16="http://schemas.microsoft.com/office/drawing/2014/main" id="{57211FF0-BE50-46D8-AC52-F3C6D7338683}"/>
              </a:ext>
            </a:extLst>
          </p:cNvPr>
          <p:cNvSpPr/>
          <p:nvPr/>
        </p:nvSpPr>
        <p:spPr>
          <a:xfrm>
            <a:off x="374626" y="3184610"/>
            <a:ext cx="1021885" cy="639207"/>
          </a:xfrm>
          <a:prstGeom prst="round2Diag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000" dirty="0"/>
              <a:t>Data Augmentation ( Rotation, Zoom )</a:t>
            </a:r>
          </a:p>
        </p:txBody>
      </p:sp>
      <p:sp>
        <p:nvSpPr>
          <p:cNvPr id="35" name="Rectangle: Diagonal Corners Rounded 34">
            <a:extLst>
              <a:ext uri="{FF2B5EF4-FFF2-40B4-BE49-F238E27FC236}">
                <a16:creationId xmlns:a16="http://schemas.microsoft.com/office/drawing/2014/main" id="{581EF785-67F3-4479-90B4-8C40062B9A92}"/>
              </a:ext>
            </a:extLst>
          </p:cNvPr>
          <p:cNvSpPr/>
          <p:nvPr/>
        </p:nvSpPr>
        <p:spPr>
          <a:xfrm>
            <a:off x="374626" y="4014879"/>
            <a:ext cx="1021885" cy="480922"/>
          </a:xfrm>
          <a:prstGeom prst="round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000" dirty="0"/>
              <a:t>Train-Test Split</a:t>
            </a:r>
          </a:p>
        </p:txBody>
      </p:sp>
      <p:sp>
        <p:nvSpPr>
          <p:cNvPr id="36" name="TextBox 35">
            <a:extLst>
              <a:ext uri="{FF2B5EF4-FFF2-40B4-BE49-F238E27FC236}">
                <a16:creationId xmlns:a16="http://schemas.microsoft.com/office/drawing/2014/main" id="{BD66C97B-636B-4BA2-AD5B-303737E870E2}"/>
              </a:ext>
            </a:extLst>
          </p:cNvPr>
          <p:cNvSpPr txBox="1"/>
          <p:nvPr/>
        </p:nvSpPr>
        <p:spPr>
          <a:xfrm>
            <a:off x="327694" y="4580023"/>
            <a:ext cx="1068817" cy="400110"/>
          </a:xfrm>
          <a:prstGeom prst="rect">
            <a:avLst/>
          </a:prstGeom>
          <a:noFill/>
        </p:spPr>
        <p:txBody>
          <a:bodyPr wrap="square" rtlCol="0">
            <a:spAutoFit/>
          </a:bodyPr>
          <a:lstStyle/>
          <a:p>
            <a:pPr algn="ctr"/>
            <a:r>
              <a:rPr lang="en-US" sz="1000" dirty="0"/>
              <a:t>Data Preprocessing</a:t>
            </a:r>
          </a:p>
        </p:txBody>
      </p:sp>
      <p:sp>
        <p:nvSpPr>
          <p:cNvPr id="37" name="TextBox 36">
            <a:extLst>
              <a:ext uri="{FF2B5EF4-FFF2-40B4-BE49-F238E27FC236}">
                <a16:creationId xmlns:a16="http://schemas.microsoft.com/office/drawing/2014/main" id="{40DA028F-C275-42DE-9F4B-A93011059C05}"/>
              </a:ext>
            </a:extLst>
          </p:cNvPr>
          <p:cNvSpPr txBox="1"/>
          <p:nvPr/>
        </p:nvSpPr>
        <p:spPr>
          <a:xfrm>
            <a:off x="3782609" y="3937683"/>
            <a:ext cx="1906291" cy="523220"/>
          </a:xfrm>
          <a:prstGeom prst="rect">
            <a:avLst/>
          </a:prstGeom>
          <a:noFill/>
        </p:spPr>
        <p:txBody>
          <a:bodyPr wrap="none" rtlCol="0">
            <a:spAutoFit/>
          </a:bodyPr>
          <a:lstStyle/>
          <a:p>
            <a:r>
              <a:rPr lang="en-US" sz="1000" dirty="0"/>
              <a:t>Model Training and Evaluation</a:t>
            </a:r>
          </a:p>
          <a:p>
            <a:endParaRPr lang="en-US" dirty="0"/>
          </a:p>
        </p:txBody>
      </p:sp>
      <p:sp>
        <p:nvSpPr>
          <p:cNvPr id="38" name="TextBox 37">
            <a:extLst>
              <a:ext uri="{FF2B5EF4-FFF2-40B4-BE49-F238E27FC236}">
                <a16:creationId xmlns:a16="http://schemas.microsoft.com/office/drawing/2014/main" id="{B0103793-6F19-4FF3-BE7F-B05308EA4EC4}"/>
              </a:ext>
            </a:extLst>
          </p:cNvPr>
          <p:cNvSpPr txBox="1"/>
          <p:nvPr/>
        </p:nvSpPr>
        <p:spPr>
          <a:xfrm rot="16200000">
            <a:off x="7052416" y="2475982"/>
            <a:ext cx="1454244" cy="246221"/>
          </a:xfrm>
          <a:prstGeom prst="rect">
            <a:avLst/>
          </a:prstGeom>
          <a:noFill/>
        </p:spPr>
        <p:txBody>
          <a:bodyPr wrap="none" rtlCol="0">
            <a:spAutoFit/>
          </a:bodyPr>
          <a:lstStyle/>
          <a:p>
            <a:r>
              <a:rPr lang="en-US" sz="1000" dirty="0"/>
              <a:t>Explainability Methods</a:t>
            </a:r>
          </a:p>
        </p:txBody>
      </p:sp>
      <p:sp>
        <p:nvSpPr>
          <p:cNvPr id="39" name="TextBox 38">
            <a:extLst>
              <a:ext uri="{FF2B5EF4-FFF2-40B4-BE49-F238E27FC236}">
                <a16:creationId xmlns:a16="http://schemas.microsoft.com/office/drawing/2014/main" id="{F821EFEB-99AC-433E-B5E3-0177ECF40068}"/>
              </a:ext>
            </a:extLst>
          </p:cNvPr>
          <p:cNvSpPr txBox="1"/>
          <p:nvPr/>
        </p:nvSpPr>
        <p:spPr>
          <a:xfrm rot="5400000">
            <a:off x="10839509" y="4621384"/>
            <a:ext cx="1640193" cy="246221"/>
          </a:xfrm>
          <a:prstGeom prst="rect">
            <a:avLst/>
          </a:prstGeom>
          <a:noFill/>
        </p:spPr>
        <p:txBody>
          <a:bodyPr wrap="none" rtlCol="0">
            <a:spAutoFit/>
          </a:bodyPr>
          <a:lstStyle/>
          <a:p>
            <a:pPr algn="ctr"/>
            <a:r>
              <a:rPr lang="en-US" sz="1000" dirty="0"/>
              <a:t>Performance Comparison</a:t>
            </a:r>
          </a:p>
        </p:txBody>
      </p:sp>
      <p:sp>
        <p:nvSpPr>
          <p:cNvPr id="40" name="Arrow: Right 39">
            <a:extLst>
              <a:ext uri="{FF2B5EF4-FFF2-40B4-BE49-F238E27FC236}">
                <a16:creationId xmlns:a16="http://schemas.microsoft.com/office/drawing/2014/main" id="{04B0777B-DF99-437B-9CB2-CDE216B27927}"/>
              </a:ext>
            </a:extLst>
          </p:cNvPr>
          <p:cNvSpPr/>
          <p:nvPr/>
        </p:nvSpPr>
        <p:spPr>
          <a:xfrm rot="5400000">
            <a:off x="685134" y="1793274"/>
            <a:ext cx="327239" cy="484632"/>
          </a:xfrm>
          <a:prstGeom prst="right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pic>
        <p:nvPicPr>
          <p:cNvPr id="41" name="Picture 40">
            <a:extLst>
              <a:ext uri="{FF2B5EF4-FFF2-40B4-BE49-F238E27FC236}">
                <a16:creationId xmlns:a16="http://schemas.microsoft.com/office/drawing/2014/main" id="{E6F4EEA3-D70B-4A1C-AF02-E5DB17814FB2}"/>
              </a:ext>
            </a:extLst>
          </p:cNvPr>
          <p:cNvPicPr>
            <a:picLocks noChangeAspect="1"/>
          </p:cNvPicPr>
          <p:nvPr/>
        </p:nvPicPr>
        <p:blipFill>
          <a:blip r:embed="rId5"/>
          <a:stretch>
            <a:fillRect/>
          </a:stretch>
        </p:blipFill>
        <p:spPr>
          <a:xfrm rot="16200000">
            <a:off x="1450268" y="3006523"/>
            <a:ext cx="609653" cy="469748"/>
          </a:xfrm>
          <a:prstGeom prst="rect">
            <a:avLst/>
          </a:prstGeom>
        </p:spPr>
      </p:pic>
      <p:pic>
        <p:nvPicPr>
          <p:cNvPr id="42" name="Picture 41">
            <a:extLst>
              <a:ext uri="{FF2B5EF4-FFF2-40B4-BE49-F238E27FC236}">
                <a16:creationId xmlns:a16="http://schemas.microsoft.com/office/drawing/2014/main" id="{AF172135-2E30-457F-8DF1-EB45A1EE5E23}"/>
              </a:ext>
            </a:extLst>
          </p:cNvPr>
          <p:cNvPicPr>
            <a:picLocks noChangeAspect="1"/>
          </p:cNvPicPr>
          <p:nvPr/>
        </p:nvPicPr>
        <p:blipFill>
          <a:blip r:embed="rId5"/>
          <a:stretch>
            <a:fillRect/>
          </a:stretch>
        </p:blipFill>
        <p:spPr>
          <a:xfrm>
            <a:off x="10417799" y="2860627"/>
            <a:ext cx="609653" cy="608075"/>
          </a:xfrm>
          <a:prstGeom prst="rect">
            <a:avLst/>
          </a:prstGeom>
        </p:spPr>
      </p:pic>
      <p:pic>
        <p:nvPicPr>
          <p:cNvPr id="43" name="Picture 42">
            <a:extLst>
              <a:ext uri="{FF2B5EF4-FFF2-40B4-BE49-F238E27FC236}">
                <a16:creationId xmlns:a16="http://schemas.microsoft.com/office/drawing/2014/main" id="{810F87AA-8C5F-4B92-89B4-1AAB6C67A7A0}"/>
              </a:ext>
            </a:extLst>
          </p:cNvPr>
          <p:cNvPicPr>
            <a:picLocks noChangeAspect="1"/>
          </p:cNvPicPr>
          <p:nvPr/>
        </p:nvPicPr>
        <p:blipFill>
          <a:blip r:embed="rId5"/>
          <a:stretch>
            <a:fillRect/>
          </a:stretch>
        </p:blipFill>
        <p:spPr>
          <a:xfrm rot="16200000">
            <a:off x="7193418" y="2364752"/>
            <a:ext cx="609653" cy="432854"/>
          </a:xfrm>
          <a:prstGeom prst="rect">
            <a:avLst/>
          </a:prstGeom>
        </p:spPr>
      </p:pic>
      <p:pic>
        <p:nvPicPr>
          <p:cNvPr id="44" name="Picture 43">
            <a:extLst>
              <a:ext uri="{FF2B5EF4-FFF2-40B4-BE49-F238E27FC236}">
                <a16:creationId xmlns:a16="http://schemas.microsoft.com/office/drawing/2014/main" id="{162A3AB8-B50E-4348-92E3-1521144DEF2F}"/>
              </a:ext>
            </a:extLst>
          </p:cNvPr>
          <p:cNvPicPr>
            <a:picLocks noChangeAspect="1"/>
          </p:cNvPicPr>
          <p:nvPr/>
        </p:nvPicPr>
        <p:blipFill>
          <a:blip r:embed="rId5"/>
          <a:stretch>
            <a:fillRect/>
          </a:stretch>
        </p:blipFill>
        <p:spPr>
          <a:xfrm rot="5400000">
            <a:off x="9286682" y="4998154"/>
            <a:ext cx="609653" cy="523222"/>
          </a:xfrm>
          <a:prstGeom prst="rect">
            <a:avLst/>
          </a:prstGeom>
        </p:spPr>
      </p:pic>
      <p:pic>
        <p:nvPicPr>
          <p:cNvPr id="45" name="Picture 44">
            <a:extLst>
              <a:ext uri="{FF2B5EF4-FFF2-40B4-BE49-F238E27FC236}">
                <a16:creationId xmlns:a16="http://schemas.microsoft.com/office/drawing/2014/main" id="{44770791-9240-4EC8-9E49-75751393509E}"/>
              </a:ext>
            </a:extLst>
          </p:cNvPr>
          <p:cNvPicPr>
            <a:picLocks noChangeAspect="1"/>
          </p:cNvPicPr>
          <p:nvPr/>
        </p:nvPicPr>
        <p:blipFill>
          <a:blip r:embed="rId6"/>
          <a:stretch>
            <a:fillRect/>
          </a:stretch>
        </p:blipFill>
        <p:spPr>
          <a:xfrm>
            <a:off x="7273852" y="4987509"/>
            <a:ext cx="558420" cy="609653"/>
          </a:xfrm>
          <a:prstGeom prst="rect">
            <a:avLst/>
          </a:prstGeom>
        </p:spPr>
      </p:pic>
      <p:pic>
        <p:nvPicPr>
          <p:cNvPr id="46" name="Picture 45">
            <a:extLst>
              <a:ext uri="{FF2B5EF4-FFF2-40B4-BE49-F238E27FC236}">
                <a16:creationId xmlns:a16="http://schemas.microsoft.com/office/drawing/2014/main" id="{289CFC2A-B3D2-475B-ADBF-4D41790073E7}"/>
              </a:ext>
            </a:extLst>
          </p:cNvPr>
          <p:cNvPicPr>
            <a:picLocks noChangeAspect="1"/>
          </p:cNvPicPr>
          <p:nvPr/>
        </p:nvPicPr>
        <p:blipFill>
          <a:blip r:embed="rId7"/>
          <a:stretch>
            <a:fillRect/>
          </a:stretch>
        </p:blipFill>
        <p:spPr>
          <a:xfrm>
            <a:off x="9496383" y="1887396"/>
            <a:ext cx="432854" cy="609653"/>
          </a:xfrm>
          <a:prstGeom prst="rect">
            <a:avLst/>
          </a:prstGeom>
        </p:spPr>
      </p:pic>
      <p:sp>
        <p:nvSpPr>
          <p:cNvPr id="47" name="Arrow: Chevron 46">
            <a:extLst>
              <a:ext uri="{FF2B5EF4-FFF2-40B4-BE49-F238E27FC236}">
                <a16:creationId xmlns:a16="http://schemas.microsoft.com/office/drawing/2014/main" id="{D126D412-B3BC-410B-8CD4-D6FD5B3899F6}"/>
              </a:ext>
            </a:extLst>
          </p:cNvPr>
          <p:cNvSpPr/>
          <p:nvPr/>
        </p:nvSpPr>
        <p:spPr>
          <a:xfrm>
            <a:off x="3825477" y="1836151"/>
            <a:ext cx="484632" cy="185150"/>
          </a:xfrm>
          <a:prstGeom prst="chevron">
            <a:avLst/>
          </a:prstGeom>
        </p:spPr>
        <p:style>
          <a:lnRef idx="1">
            <a:schemeClr val="dk1"/>
          </a:lnRef>
          <a:fillRef idx="1002">
            <a:schemeClr val="lt1"/>
          </a:fillRef>
          <a:effectRef idx="1">
            <a:schemeClr val="dk1"/>
          </a:effectRef>
          <a:fontRef idx="minor">
            <a:schemeClr val="dk1"/>
          </a:fontRef>
        </p:style>
        <p:txBody>
          <a:bodyPr rtlCol="0" anchor="ctr"/>
          <a:lstStyle/>
          <a:p>
            <a:pPr algn="ctr"/>
            <a:endParaRPr lang="en-US">
              <a:solidFill>
                <a:schemeClr val="tx1"/>
              </a:solidFill>
            </a:endParaRPr>
          </a:p>
        </p:txBody>
      </p:sp>
      <p:pic>
        <p:nvPicPr>
          <p:cNvPr id="48" name="Picture 47">
            <a:extLst>
              <a:ext uri="{FF2B5EF4-FFF2-40B4-BE49-F238E27FC236}">
                <a16:creationId xmlns:a16="http://schemas.microsoft.com/office/drawing/2014/main" id="{17EEAC6F-9692-48BA-B3CE-E6F04CD47384}"/>
              </a:ext>
            </a:extLst>
          </p:cNvPr>
          <p:cNvPicPr>
            <a:picLocks noChangeAspect="1"/>
          </p:cNvPicPr>
          <p:nvPr/>
        </p:nvPicPr>
        <p:blipFill>
          <a:blip r:embed="rId8"/>
          <a:stretch>
            <a:fillRect/>
          </a:stretch>
        </p:blipFill>
        <p:spPr>
          <a:xfrm>
            <a:off x="3788045" y="2530025"/>
            <a:ext cx="585267" cy="280440"/>
          </a:xfrm>
          <a:prstGeom prst="rect">
            <a:avLst/>
          </a:prstGeom>
        </p:spPr>
      </p:pic>
      <p:pic>
        <p:nvPicPr>
          <p:cNvPr id="49" name="Picture 48">
            <a:extLst>
              <a:ext uri="{FF2B5EF4-FFF2-40B4-BE49-F238E27FC236}">
                <a16:creationId xmlns:a16="http://schemas.microsoft.com/office/drawing/2014/main" id="{B1BA9970-54A9-401A-9F03-9ED90AC7AECC}"/>
              </a:ext>
            </a:extLst>
          </p:cNvPr>
          <p:cNvPicPr>
            <a:picLocks noChangeAspect="1"/>
          </p:cNvPicPr>
          <p:nvPr/>
        </p:nvPicPr>
        <p:blipFill>
          <a:blip r:embed="rId8"/>
          <a:stretch>
            <a:fillRect/>
          </a:stretch>
        </p:blipFill>
        <p:spPr>
          <a:xfrm>
            <a:off x="5359794" y="1802660"/>
            <a:ext cx="585267" cy="280440"/>
          </a:xfrm>
          <a:prstGeom prst="rect">
            <a:avLst/>
          </a:prstGeom>
        </p:spPr>
      </p:pic>
      <p:pic>
        <p:nvPicPr>
          <p:cNvPr id="50" name="Picture 49">
            <a:extLst>
              <a:ext uri="{FF2B5EF4-FFF2-40B4-BE49-F238E27FC236}">
                <a16:creationId xmlns:a16="http://schemas.microsoft.com/office/drawing/2014/main" id="{0396CCFE-C7FF-42CD-9DAD-4E04DD176F7B}"/>
              </a:ext>
            </a:extLst>
          </p:cNvPr>
          <p:cNvPicPr>
            <a:picLocks noChangeAspect="1"/>
          </p:cNvPicPr>
          <p:nvPr/>
        </p:nvPicPr>
        <p:blipFill>
          <a:blip r:embed="rId8"/>
          <a:stretch>
            <a:fillRect/>
          </a:stretch>
        </p:blipFill>
        <p:spPr>
          <a:xfrm>
            <a:off x="5358457" y="2543282"/>
            <a:ext cx="585267" cy="280440"/>
          </a:xfrm>
          <a:prstGeom prst="rect">
            <a:avLst/>
          </a:prstGeom>
        </p:spPr>
      </p:pic>
      <p:pic>
        <p:nvPicPr>
          <p:cNvPr id="51" name="Picture 50">
            <a:extLst>
              <a:ext uri="{FF2B5EF4-FFF2-40B4-BE49-F238E27FC236}">
                <a16:creationId xmlns:a16="http://schemas.microsoft.com/office/drawing/2014/main" id="{32C6D779-709B-4283-B6F9-95506B212644}"/>
              </a:ext>
            </a:extLst>
          </p:cNvPr>
          <p:cNvPicPr>
            <a:picLocks noChangeAspect="1"/>
          </p:cNvPicPr>
          <p:nvPr/>
        </p:nvPicPr>
        <p:blipFill>
          <a:blip r:embed="rId8"/>
          <a:stretch>
            <a:fillRect/>
          </a:stretch>
        </p:blipFill>
        <p:spPr>
          <a:xfrm>
            <a:off x="3777917" y="3236662"/>
            <a:ext cx="585267" cy="280440"/>
          </a:xfrm>
          <a:prstGeom prst="rect">
            <a:avLst/>
          </a:prstGeom>
        </p:spPr>
      </p:pic>
      <p:pic>
        <p:nvPicPr>
          <p:cNvPr id="52" name="Picture 51">
            <a:extLst>
              <a:ext uri="{FF2B5EF4-FFF2-40B4-BE49-F238E27FC236}">
                <a16:creationId xmlns:a16="http://schemas.microsoft.com/office/drawing/2014/main" id="{FEE0763E-72A8-4E65-BB23-EB8C3CD34D74}"/>
              </a:ext>
            </a:extLst>
          </p:cNvPr>
          <p:cNvPicPr>
            <a:picLocks noChangeAspect="1"/>
          </p:cNvPicPr>
          <p:nvPr/>
        </p:nvPicPr>
        <p:blipFill>
          <a:blip r:embed="rId8"/>
          <a:stretch>
            <a:fillRect/>
          </a:stretch>
        </p:blipFill>
        <p:spPr>
          <a:xfrm>
            <a:off x="5375128" y="3222043"/>
            <a:ext cx="585267" cy="280440"/>
          </a:xfrm>
          <a:prstGeom prst="rect">
            <a:avLst/>
          </a:prstGeom>
        </p:spPr>
      </p:pic>
      <p:sp>
        <p:nvSpPr>
          <p:cNvPr id="53" name="Oval 52">
            <a:extLst>
              <a:ext uri="{FF2B5EF4-FFF2-40B4-BE49-F238E27FC236}">
                <a16:creationId xmlns:a16="http://schemas.microsoft.com/office/drawing/2014/main" id="{CCAA3983-232D-4B9E-9AE1-D595CED9307E}"/>
              </a:ext>
            </a:extLst>
          </p:cNvPr>
          <p:cNvSpPr/>
          <p:nvPr/>
        </p:nvSpPr>
        <p:spPr>
          <a:xfrm>
            <a:off x="109409" y="1016232"/>
            <a:ext cx="1442274" cy="837257"/>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dirty="0"/>
              <a:t>Data-Collection(X-ray Images from Kaggle)</a:t>
            </a:r>
          </a:p>
        </p:txBody>
      </p:sp>
    </p:spTree>
    <p:extLst>
      <p:ext uri="{BB962C8B-B14F-4D97-AF65-F5344CB8AC3E}">
        <p14:creationId xmlns:p14="http://schemas.microsoft.com/office/powerpoint/2010/main" val="2048411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9</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2">
            <a:extLst>
              <a:ext uri="{FF2B5EF4-FFF2-40B4-BE49-F238E27FC236}">
                <a16:creationId xmlns:a16="http://schemas.microsoft.com/office/drawing/2014/main" id="{376257D7-5E02-4F99-8416-B8DA08F17DC4}"/>
              </a:ext>
            </a:extLst>
          </p:cNvPr>
          <p:cNvSpPr>
            <a:spLocks noGrp="1"/>
          </p:cNvSpPr>
          <p:nvPr>
            <p:ph sz="quarter" idx="13"/>
          </p:nvPr>
        </p:nvSpPr>
        <p:spPr>
          <a:xfrm>
            <a:off x="609600" y="1219200"/>
            <a:ext cx="10972800" cy="4419600"/>
          </a:xfrm>
        </p:spPr>
        <p:txBody>
          <a:bodyPr>
            <a:normAutofit/>
          </a:bodyPr>
          <a:lstStyle/>
          <a:p>
            <a:pPr marL="0" indent="0" algn="just">
              <a:buNone/>
            </a:pPr>
            <a:r>
              <a:rPr lang="en-US" sz="2400" b="1" dirty="0">
                <a:solidFill>
                  <a:schemeClr val="tx1"/>
                </a:solidFill>
              </a:rPr>
              <a:t>Evaluation Methodology:</a:t>
            </a:r>
          </a:p>
          <a:p>
            <a:pPr algn="just">
              <a:buFont typeface="Wingdings" panose="05000000000000000000" pitchFamily="2" charset="2"/>
              <a:buChar char="§"/>
            </a:pPr>
            <a:r>
              <a:rPr lang="en-US" sz="2000" b="1" dirty="0">
                <a:solidFill>
                  <a:schemeClr val="tx1"/>
                </a:solidFill>
                <a:latin typeface="Times New Roman" panose="02020603050405020304" pitchFamily="18" charset="0"/>
                <a:cs typeface="Times New Roman" panose="02020603050405020304" pitchFamily="18" charset="0"/>
              </a:rPr>
              <a:t>Experiment: </a:t>
            </a:r>
          </a:p>
          <a:p>
            <a:pPr marL="400050" lvl="1" indent="0" algn="just">
              <a:buNone/>
            </a:pPr>
            <a:r>
              <a:rPr lang="en-US" sz="2000" dirty="0">
                <a:solidFill>
                  <a:schemeClr val="tx1"/>
                </a:solidFill>
                <a:latin typeface="Times New Roman" panose="02020603050405020304" pitchFamily="18" charset="0"/>
                <a:cs typeface="Times New Roman" panose="02020603050405020304" pitchFamily="18" charset="0"/>
              </a:rPr>
              <a:t>The models (CNN, VGG16 Transfer Learning, and Ensemble) were trained and evaluated on the pneumonia detection dataset. </a:t>
            </a:r>
          </a:p>
          <a:p>
            <a:pPr algn="just">
              <a:buFont typeface="Wingdings" panose="05000000000000000000" pitchFamily="2" charset="2"/>
              <a:buChar char="§"/>
            </a:pPr>
            <a:r>
              <a:rPr lang="en-US" sz="2000" b="1" dirty="0">
                <a:solidFill>
                  <a:schemeClr val="tx1"/>
                </a:solidFill>
                <a:latin typeface="Times New Roman" panose="02020603050405020304" pitchFamily="18" charset="0"/>
                <a:cs typeface="Times New Roman" panose="02020603050405020304" pitchFamily="18" charset="0"/>
              </a:rPr>
              <a:t>Case Study</a:t>
            </a:r>
            <a:r>
              <a:rPr lang="en-US" sz="2000" dirty="0">
                <a:solidFill>
                  <a:schemeClr val="tx1"/>
                </a:solidFill>
                <a:latin typeface="Times New Roman" panose="02020603050405020304" pitchFamily="18" charset="0"/>
                <a:cs typeface="Times New Roman" panose="02020603050405020304" pitchFamily="18" charset="0"/>
              </a:rPr>
              <a:t>: </a:t>
            </a:r>
          </a:p>
          <a:p>
            <a:pPr marL="400050" lvl="1" indent="0" algn="just">
              <a:buNone/>
            </a:pPr>
            <a:r>
              <a:rPr lang="en-US" sz="2000" dirty="0">
                <a:solidFill>
                  <a:schemeClr val="tx1"/>
                </a:solidFill>
                <a:latin typeface="Times New Roman" panose="02020603050405020304" pitchFamily="18" charset="0"/>
                <a:cs typeface="Times New Roman" panose="02020603050405020304" pitchFamily="18" charset="0"/>
              </a:rPr>
              <a:t>The case study focused on detecting pneumonia from chest X-rays using a hybrid model combining Shallow CNN and VGG16, along with explainability techniques (LIME, SHAP, Grad-CAM). </a:t>
            </a:r>
          </a:p>
          <a:p>
            <a:pPr algn="just">
              <a:buFont typeface="Wingdings" panose="05000000000000000000" pitchFamily="2" charset="2"/>
              <a:buChar char="§"/>
            </a:pPr>
            <a:r>
              <a:rPr lang="en-US" sz="2000" b="1" dirty="0">
                <a:solidFill>
                  <a:schemeClr val="tx1"/>
                </a:solidFill>
                <a:latin typeface="Times New Roman" panose="02020603050405020304" pitchFamily="18" charset="0"/>
                <a:cs typeface="Times New Roman" panose="02020603050405020304" pitchFamily="18" charset="0"/>
              </a:rPr>
              <a:t>Software Verification and Validation</a:t>
            </a:r>
            <a:r>
              <a:rPr lang="en-US" sz="2000" dirty="0">
                <a:solidFill>
                  <a:schemeClr val="tx1"/>
                </a:solidFill>
                <a:latin typeface="Times New Roman" panose="02020603050405020304" pitchFamily="18" charset="0"/>
                <a:cs typeface="Times New Roman" panose="02020603050405020304" pitchFamily="18" charset="0"/>
              </a:rPr>
              <a:t>: </a:t>
            </a:r>
          </a:p>
          <a:p>
            <a:pPr marL="400050" lvl="1" indent="0" algn="just">
              <a:buNone/>
            </a:pPr>
            <a:r>
              <a:rPr lang="en-US" sz="2000" dirty="0">
                <a:solidFill>
                  <a:schemeClr val="tx1"/>
                </a:solidFill>
                <a:latin typeface="Times New Roman" panose="02020603050405020304" pitchFamily="18" charset="0"/>
                <a:cs typeface="Times New Roman" panose="02020603050405020304" pitchFamily="18" charset="0"/>
              </a:rPr>
              <a:t>Model verification was performed by comparing predictions from CNN, VGG16, and the hybrid model (ensemble of CNN and VGG16). Validation included metrics like AUC, accuracy, and confusion matrices and visualizing prediction explainability using Grad-CAM, SHAP, and LIME.</a:t>
            </a:r>
          </a:p>
          <a:p>
            <a:pPr>
              <a:buFont typeface="Wingdings" panose="05000000000000000000" pitchFamily="2" charset="2"/>
              <a:buChar char="§"/>
            </a:pPr>
            <a:endParaRPr lang="en-US" sz="2000" b="1" dirty="0">
              <a:solidFill>
                <a:schemeClr val="tx1"/>
              </a:solidFill>
              <a:latin typeface="Times New Roman" panose="02020603050405020304" pitchFamily="18" charset="0"/>
              <a:cs typeface="Times New Roman" panose="02020603050405020304" pitchFamily="18" charset="0"/>
            </a:endParaRPr>
          </a:p>
          <a:p>
            <a:pPr marL="0" indent="0">
              <a:buNone/>
            </a:pPr>
            <a:endParaRPr lang="en-US" sz="30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65956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10</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5">
            <a:extLst>
              <a:ext uri="{FF2B5EF4-FFF2-40B4-BE49-F238E27FC236}">
                <a16:creationId xmlns:a16="http://schemas.microsoft.com/office/drawing/2014/main" id="{8DAF381C-92DC-4B87-BD80-1C2532908678}"/>
              </a:ext>
            </a:extLst>
          </p:cNvPr>
          <p:cNvSpPr>
            <a:spLocks noGrp="1"/>
          </p:cNvSpPr>
          <p:nvPr>
            <p:ph sz="quarter" idx="13"/>
          </p:nvPr>
        </p:nvSpPr>
        <p:spPr/>
        <p:txBody>
          <a:bodyPr/>
          <a:lstStyle/>
          <a:p>
            <a:pPr marL="0" indent="0">
              <a:buNone/>
            </a:pPr>
            <a:r>
              <a:rPr lang="en-US" sz="3200" b="1" dirty="0">
                <a:solidFill>
                  <a:schemeClr val="tx1"/>
                </a:solidFill>
                <a:latin typeface="Times New Roman" pitchFamily="18" charset="0"/>
                <a:cs typeface="Times New Roman" pitchFamily="18" charset="0"/>
              </a:rPr>
              <a:t>Study Case Design:</a:t>
            </a:r>
          </a:p>
          <a:p>
            <a:pPr marL="0" indent="0">
              <a:buNone/>
            </a:pPr>
            <a:endParaRPr lang="en-US" dirty="0"/>
          </a:p>
        </p:txBody>
      </p:sp>
      <p:sp>
        <p:nvSpPr>
          <p:cNvPr id="8" name="Oval 7">
            <a:extLst>
              <a:ext uri="{FF2B5EF4-FFF2-40B4-BE49-F238E27FC236}">
                <a16:creationId xmlns:a16="http://schemas.microsoft.com/office/drawing/2014/main" id="{8B563991-5270-42FF-B50F-38A377E51408}"/>
              </a:ext>
            </a:extLst>
          </p:cNvPr>
          <p:cNvSpPr/>
          <p:nvPr/>
        </p:nvSpPr>
        <p:spPr>
          <a:xfrm>
            <a:off x="761999" y="2420525"/>
            <a:ext cx="2057400"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 Collection</a:t>
            </a:r>
          </a:p>
        </p:txBody>
      </p:sp>
      <p:sp>
        <p:nvSpPr>
          <p:cNvPr id="9" name="Rectangle: Rounded Corners 8">
            <a:extLst>
              <a:ext uri="{FF2B5EF4-FFF2-40B4-BE49-F238E27FC236}">
                <a16:creationId xmlns:a16="http://schemas.microsoft.com/office/drawing/2014/main" id="{B0BCA9BD-6E38-4C15-BA83-BD84B7E97747}"/>
              </a:ext>
            </a:extLst>
          </p:cNvPr>
          <p:cNvSpPr/>
          <p:nvPr/>
        </p:nvSpPr>
        <p:spPr>
          <a:xfrm>
            <a:off x="3454806" y="2420525"/>
            <a:ext cx="20574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 Preprocessing</a:t>
            </a:r>
          </a:p>
        </p:txBody>
      </p:sp>
      <p:sp>
        <p:nvSpPr>
          <p:cNvPr id="10" name="Cylinder 9">
            <a:extLst>
              <a:ext uri="{FF2B5EF4-FFF2-40B4-BE49-F238E27FC236}">
                <a16:creationId xmlns:a16="http://schemas.microsoft.com/office/drawing/2014/main" id="{77D7A2C0-FC64-42A6-9C7E-B4903C5C4967}"/>
              </a:ext>
            </a:extLst>
          </p:cNvPr>
          <p:cNvSpPr/>
          <p:nvPr/>
        </p:nvSpPr>
        <p:spPr>
          <a:xfrm>
            <a:off x="6289878" y="2301378"/>
            <a:ext cx="1866900" cy="1065276"/>
          </a:xfrm>
          <a:prstGeom prst="can">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Model Training &amp; Evaluation</a:t>
            </a:r>
          </a:p>
        </p:txBody>
      </p:sp>
      <p:sp>
        <p:nvSpPr>
          <p:cNvPr id="11" name="Flowchart: Multidocument 10">
            <a:extLst>
              <a:ext uri="{FF2B5EF4-FFF2-40B4-BE49-F238E27FC236}">
                <a16:creationId xmlns:a16="http://schemas.microsoft.com/office/drawing/2014/main" id="{E11EDEC5-5C9A-40A1-8ED2-722EA02B7767}"/>
              </a:ext>
            </a:extLst>
          </p:cNvPr>
          <p:cNvSpPr/>
          <p:nvPr/>
        </p:nvSpPr>
        <p:spPr>
          <a:xfrm>
            <a:off x="8934450" y="2356796"/>
            <a:ext cx="1866900" cy="95444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Explainability Methods</a:t>
            </a:r>
          </a:p>
        </p:txBody>
      </p:sp>
      <p:sp>
        <p:nvSpPr>
          <p:cNvPr id="12" name="Diamond 11">
            <a:extLst>
              <a:ext uri="{FF2B5EF4-FFF2-40B4-BE49-F238E27FC236}">
                <a16:creationId xmlns:a16="http://schemas.microsoft.com/office/drawing/2014/main" id="{F8C9B060-E9C8-4F54-98F1-009ABFAACE66}"/>
              </a:ext>
            </a:extLst>
          </p:cNvPr>
          <p:cNvSpPr/>
          <p:nvPr/>
        </p:nvSpPr>
        <p:spPr>
          <a:xfrm>
            <a:off x="8551866" y="3839232"/>
            <a:ext cx="2438399" cy="1219200"/>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Model Evaluation</a:t>
            </a:r>
          </a:p>
        </p:txBody>
      </p:sp>
      <p:sp>
        <p:nvSpPr>
          <p:cNvPr id="13" name="Rectangle: Single Corner Rounded 12">
            <a:extLst>
              <a:ext uri="{FF2B5EF4-FFF2-40B4-BE49-F238E27FC236}">
                <a16:creationId xmlns:a16="http://schemas.microsoft.com/office/drawing/2014/main" id="{61FE8472-45B8-47E0-B002-17DD11EB4433}"/>
              </a:ext>
            </a:extLst>
          </p:cNvPr>
          <p:cNvSpPr/>
          <p:nvPr/>
        </p:nvSpPr>
        <p:spPr>
          <a:xfrm>
            <a:off x="6286499" y="3991632"/>
            <a:ext cx="1866900" cy="914400"/>
          </a:xfrm>
          <a:prstGeom prst="round1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Performance Comparison</a:t>
            </a:r>
          </a:p>
        </p:txBody>
      </p:sp>
      <p:sp>
        <p:nvSpPr>
          <p:cNvPr id="14" name="Oval 13">
            <a:extLst>
              <a:ext uri="{FF2B5EF4-FFF2-40B4-BE49-F238E27FC236}">
                <a16:creationId xmlns:a16="http://schemas.microsoft.com/office/drawing/2014/main" id="{424353F7-ECC4-49EB-A0C8-70248B6BCFFE}"/>
              </a:ext>
            </a:extLst>
          </p:cNvPr>
          <p:cNvSpPr/>
          <p:nvPr/>
        </p:nvSpPr>
        <p:spPr>
          <a:xfrm>
            <a:off x="868568" y="3991632"/>
            <a:ext cx="1994103" cy="9144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Deployment</a:t>
            </a:r>
          </a:p>
        </p:txBody>
      </p:sp>
      <p:sp>
        <p:nvSpPr>
          <p:cNvPr id="15" name="Rectangle: Rounded Corners 14">
            <a:extLst>
              <a:ext uri="{FF2B5EF4-FFF2-40B4-BE49-F238E27FC236}">
                <a16:creationId xmlns:a16="http://schemas.microsoft.com/office/drawing/2014/main" id="{EB417CC9-857F-482E-9504-161EBF0C15C1}"/>
              </a:ext>
            </a:extLst>
          </p:cNvPr>
          <p:cNvSpPr/>
          <p:nvPr/>
        </p:nvSpPr>
        <p:spPr>
          <a:xfrm>
            <a:off x="3454806" y="3991632"/>
            <a:ext cx="2057400" cy="914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Model Selection</a:t>
            </a:r>
          </a:p>
        </p:txBody>
      </p:sp>
      <p:cxnSp>
        <p:nvCxnSpPr>
          <p:cNvPr id="16" name="Straight Arrow Connector 15">
            <a:extLst>
              <a:ext uri="{FF2B5EF4-FFF2-40B4-BE49-F238E27FC236}">
                <a16:creationId xmlns:a16="http://schemas.microsoft.com/office/drawing/2014/main" id="{2296DE2D-100A-463F-A7FC-1F083257EA01}"/>
              </a:ext>
            </a:extLst>
          </p:cNvPr>
          <p:cNvCxnSpPr>
            <a:stCxn id="8" idx="6"/>
            <a:endCxn id="9" idx="1"/>
          </p:cNvCxnSpPr>
          <p:nvPr/>
        </p:nvCxnSpPr>
        <p:spPr>
          <a:xfrm>
            <a:off x="2819399" y="2877725"/>
            <a:ext cx="63540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C2EFC522-228A-40E9-8621-D7FEEC552721}"/>
              </a:ext>
            </a:extLst>
          </p:cNvPr>
          <p:cNvCxnSpPr>
            <a:stCxn id="9" idx="3"/>
            <a:endCxn id="10" idx="2"/>
          </p:cNvCxnSpPr>
          <p:nvPr/>
        </p:nvCxnSpPr>
        <p:spPr>
          <a:xfrm>
            <a:off x="5512206" y="2877725"/>
            <a:ext cx="77429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495D5DD1-EFD3-4F98-A381-4DC7102E76E1}"/>
              </a:ext>
            </a:extLst>
          </p:cNvPr>
          <p:cNvCxnSpPr>
            <a:stCxn id="10" idx="4"/>
            <a:endCxn id="11" idx="1"/>
          </p:cNvCxnSpPr>
          <p:nvPr/>
        </p:nvCxnSpPr>
        <p:spPr>
          <a:xfrm>
            <a:off x="8156778" y="2834016"/>
            <a:ext cx="77767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2470F052-5CC4-40A9-9AA5-DA6C148E75C1}"/>
              </a:ext>
            </a:extLst>
          </p:cNvPr>
          <p:cNvCxnSpPr>
            <a:cxnSpLocks/>
            <a:stCxn id="11" idx="2"/>
            <a:endCxn id="12" idx="0"/>
          </p:cNvCxnSpPr>
          <p:nvPr/>
        </p:nvCxnSpPr>
        <p:spPr>
          <a:xfrm>
            <a:off x="9738081" y="3275091"/>
            <a:ext cx="32985" cy="56414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Straight Arrow Connector 19">
            <a:extLst>
              <a:ext uri="{FF2B5EF4-FFF2-40B4-BE49-F238E27FC236}">
                <a16:creationId xmlns:a16="http://schemas.microsoft.com/office/drawing/2014/main" id="{8DB9D278-CCF0-4D63-A78F-5842BCAD90E3}"/>
              </a:ext>
            </a:extLst>
          </p:cNvPr>
          <p:cNvCxnSpPr>
            <a:stCxn id="12" idx="1"/>
            <a:endCxn id="13" idx="3"/>
          </p:cNvCxnSpPr>
          <p:nvPr/>
        </p:nvCxnSpPr>
        <p:spPr>
          <a:xfrm flipH="1">
            <a:off x="8153399" y="4448832"/>
            <a:ext cx="39846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72ABF1A6-D22A-43BA-BD1E-E9D2C362C852}"/>
              </a:ext>
            </a:extLst>
          </p:cNvPr>
          <p:cNvCxnSpPr>
            <a:cxnSpLocks/>
            <a:stCxn id="13" idx="1"/>
            <a:endCxn id="15" idx="3"/>
          </p:cNvCxnSpPr>
          <p:nvPr/>
        </p:nvCxnSpPr>
        <p:spPr>
          <a:xfrm flipH="1">
            <a:off x="5512206" y="4448832"/>
            <a:ext cx="774293"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0E839272-695F-466B-BD0C-B9E2D401DB07}"/>
              </a:ext>
            </a:extLst>
          </p:cNvPr>
          <p:cNvCxnSpPr>
            <a:cxnSpLocks/>
            <a:stCxn id="15" idx="1"/>
            <a:endCxn id="14" idx="6"/>
          </p:cNvCxnSpPr>
          <p:nvPr/>
        </p:nvCxnSpPr>
        <p:spPr>
          <a:xfrm flipH="1">
            <a:off x="2862671" y="4448832"/>
            <a:ext cx="59213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85179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11</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8" name="Content Placeholder 2">
            <a:extLst>
              <a:ext uri="{FF2B5EF4-FFF2-40B4-BE49-F238E27FC236}">
                <a16:creationId xmlns:a16="http://schemas.microsoft.com/office/drawing/2014/main" id="{4DC358F5-10E5-4A14-8CE4-40E08DF459FE}"/>
              </a:ext>
            </a:extLst>
          </p:cNvPr>
          <p:cNvSpPr>
            <a:spLocks noGrp="1"/>
          </p:cNvSpPr>
          <p:nvPr>
            <p:ph sz="quarter" idx="13"/>
          </p:nvPr>
        </p:nvSpPr>
        <p:spPr>
          <a:xfrm>
            <a:off x="685800" y="1549004"/>
            <a:ext cx="10959784" cy="3725183"/>
          </a:xfrm>
        </p:spPr>
        <p:txBody>
          <a:bodyPr>
            <a:noAutofit/>
          </a:bodyPr>
          <a:lstStyle/>
          <a:p>
            <a:pPr marL="0" indent="0">
              <a:buNone/>
            </a:pPr>
            <a:r>
              <a:rPr lang="en-US" sz="2000" b="1" dirty="0">
                <a:solidFill>
                  <a:schemeClr val="tx1"/>
                </a:solidFill>
                <a:latin typeface="Times New Roman" panose="02020603050405020304" pitchFamily="18" charset="0"/>
                <a:cs typeface="Times New Roman" panose="02020603050405020304" pitchFamily="18" charset="0"/>
              </a:rPr>
              <a:t>Output of Model:</a:t>
            </a:r>
          </a:p>
          <a:p>
            <a:pPr marL="0" indent="0">
              <a:buNone/>
            </a:pPr>
            <a:endParaRPr lang="en-US" sz="2400" b="1" dirty="0">
              <a:solidFill>
                <a:schemeClr val="tx1"/>
              </a:solidFill>
              <a:latin typeface="Times New Roman" panose="02020603050405020304" pitchFamily="18" charset="0"/>
              <a:cs typeface="Times New Roman" pitchFamily="18" charset="0"/>
            </a:endParaRPr>
          </a:p>
        </p:txBody>
      </p:sp>
      <p:pic>
        <p:nvPicPr>
          <p:cNvPr id="9" name="Picture 4">
            <a:extLst>
              <a:ext uri="{FF2B5EF4-FFF2-40B4-BE49-F238E27FC236}">
                <a16:creationId xmlns:a16="http://schemas.microsoft.com/office/drawing/2014/main" id="{E6AFB525-2035-48B0-AE8E-9925D53ACF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1940089"/>
            <a:ext cx="4629150" cy="33340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36">
            <a:extLst>
              <a:ext uri="{FF2B5EF4-FFF2-40B4-BE49-F238E27FC236}">
                <a16:creationId xmlns:a16="http://schemas.microsoft.com/office/drawing/2014/main" id="{F5320C53-92E7-4931-91AA-E22909B2E2E8}"/>
              </a:ext>
            </a:extLst>
          </p:cNvPr>
          <p:cNvGraphicFramePr>
            <a:graphicFrameLocks noGrp="1"/>
          </p:cNvGraphicFramePr>
          <p:nvPr>
            <p:extLst>
              <p:ext uri="{D42A27DB-BD31-4B8C-83A1-F6EECF244321}">
                <p14:modId xmlns:p14="http://schemas.microsoft.com/office/powerpoint/2010/main" val="2118425872"/>
              </p:ext>
            </p:extLst>
          </p:nvPr>
        </p:nvGraphicFramePr>
        <p:xfrm>
          <a:off x="1162050" y="2387938"/>
          <a:ext cx="4386944" cy="2438400"/>
        </p:xfrm>
        <a:graphic>
          <a:graphicData uri="http://schemas.openxmlformats.org/drawingml/2006/table">
            <a:tbl>
              <a:tblPr firstRow="1" bandRow="1">
                <a:tableStyleId>{3B4B98B0-60AC-42C2-AFA5-B58CD77FA1E5}</a:tableStyleId>
              </a:tblPr>
              <a:tblGrid>
                <a:gridCol w="2193472">
                  <a:extLst>
                    <a:ext uri="{9D8B030D-6E8A-4147-A177-3AD203B41FA5}">
                      <a16:colId xmlns:a16="http://schemas.microsoft.com/office/drawing/2014/main" val="1501756674"/>
                    </a:ext>
                  </a:extLst>
                </a:gridCol>
                <a:gridCol w="2193472">
                  <a:extLst>
                    <a:ext uri="{9D8B030D-6E8A-4147-A177-3AD203B41FA5}">
                      <a16:colId xmlns:a16="http://schemas.microsoft.com/office/drawing/2014/main" val="1808085561"/>
                    </a:ext>
                  </a:extLst>
                </a:gridCol>
              </a:tblGrid>
              <a:tr h="563301">
                <a:tc>
                  <a:txBody>
                    <a:bodyPr/>
                    <a:lstStyle/>
                    <a:p>
                      <a:pPr algn="ctr"/>
                      <a:r>
                        <a:rPr lang="en-US" dirty="0"/>
                        <a:t>Model</a:t>
                      </a:r>
                    </a:p>
                  </a:txBody>
                  <a:tcPr/>
                </a:tc>
                <a:tc>
                  <a:txBody>
                    <a:bodyPr/>
                    <a:lstStyle/>
                    <a:p>
                      <a:pPr algn="ctr"/>
                      <a:r>
                        <a:rPr lang="en-US" dirty="0"/>
                        <a:t>Accuracy</a:t>
                      </a:r>
                    </a:p>
                  </a:txBody>
                  <a:tcPr/>
                </a:tc>
                <a:extLst>
                  <a:ext uri="{0D108BD9-81ED-4DB2-BD59-A6C34878D82A}">
                    <a16:rowId xmlns:a16="http://schemas.microsoft.com/office/drawing/2014/main" val="2174515749"/>
                  </a:ext>
                </a:extLst>
              </a:tr>
              <a:tr h="563301">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Shallow CNN</a:t>
                      </a:r>
                      <a:endParaRPr lang="en-US" sz="12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algn="ctr"/>
                      <a:r>
                        <a:rPr lang="en-US" sz="1200" b="0" i="0" u="none" strike="noStrike" dirty="0">
                          <a:solidFill>
                            <a:srgbClr val="1F1F1F"/>
                          </a:solidFill>
                          <a:effectLst/>
                          <a:latin typeface="Times New Roman" panose="02020603050405020304" pitchFamily="18" charset="0"/>
                          <a:cs typeface="Times New Roman" panose="02020603050405020304" pitchFamily="18" charset="0"/>
                        </a:rPr>
                        <a:t>0.9321382842509603</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89141910"/>
                  </a:ext>
                </a:extLst>
              </a:tr>
              <a:tr h="563301">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VGG16 Transfer Learning</a:t>
                      </a:r>
                      <a:endParaRPr lang="en-US" sz="12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algn="ctr" rtl="0" fontAlgn="t">
                        <a:spcBef>
                          <a:spcPts val="0"/>
                        </a:spcBef>
                        <a:spcAft>
                          <a:spcPts val="0"/>
                        </a:spcAft>
                      </a:pPr>
                      <a:r>
                        <a:rPr lang="en-US" sz="1200" b="0" i="0" u="none" strike="noStrike" dirty="0">
                          <a:solidFill>
                            <a:srgbClr val="1F1F1F"/>
                          </a:solidFill>
                          <a:effectLst/>
                          <a:latin typeface="Times New Roman" panose="02020603050405020304" pitchFamily="18" charset="0"/>
                          <a:cs typeface="Times New Roman" panose="02020603050405020304" pitchFamily="18" charset="0"/>
                        </a:rPr>
                        <a:t>0.9586000853606488</a:t>
                      </a:r>
                      <a:endParaRPr lang="en-US" sz="12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3309935407"/>
                  </a:ext>
                </a:extLst>
              </a:tr>
              <a:tr h="748497">
                <a:tc>
                  <a:txBody>
                    <a:bodyPr/>
                    <a:lstStyle/>
                    <a:p>
                      <a:pPr algn="ctr" rtl="0" fontAlgn="t">
                        <a:spcBef>
                          <a:spcPts val="0"/>
                        </a:spcBef>
                        <a:spcAft>
                          <a:spcPts val="0"/>
                        </a:spcAft>
                      </a:pPr>
                      <a:r>
                        <a:rPr lang="en-US" sz="1200" b="0" i="0" u="none" strike="noStrike" dirty="0">
                          <a:solidFill>
                            <a:srgbClr val="000000"/>
                          </a:solidFill>
                          <a:effectLst/>
                          <a:latin typeface="Times New Roman" panose="02020603050405020304" pitchFamily="18" charset="0"/>
                          <a:cs typeface="Times New Roman" panose="02020603050405020304" pitchFamily="18" charset="0"/>
                        </a:rPr>
                        <a:t>Hybrid Model (Ensemble of Shallow CNN &amp; VGG16 TL)</a:t>
                      </a:r>
                      <a:endParaRPr lang="en-US" sz="1200" dirty="0">
                        <a:effectLst/>
                        <a:latin typeface="Times New Roman" panose="02020603050405020304" pitchFamily="18" charset="0"/>
                        <a:cs typeface="Times New Roman" panose="02020603050405020304" pitchFamily="18" charset="0"/>
                      </a:endParaRPr>
                    </a:p>
                  </a:txBody>
                  <a:tcPr marL="63500" marR="63500" marT="63500" marB="63500"/>
                </a:tc>
                <a:tc>
                  <a:txBody>
                    <a:bodyPr/>
                    <a:lstStyle/>
                    <a:p>
                      <a:pPr algn="ctr" rtl="0" fontAlgn="t">
                        <a:spcBef>
                          <a:spcPts val="0"/>
                        </a:spcBef>
                        <a:spcAft>
                          <a:spcPts val="0"/>
                        </a:spcAft>
                      </a:pPr>
                      <a:r>
                        <a:rPr lang="en-US" sz="1200" b="0" i="0" u="none" strike="noStrike" dirty="0">
                          <a:solidFill>
                            <a:srgbClr val="1F1F1F"/>
                          </a:solidFill>
                          <a:effectLst/>
                          <a:latin typeface="Times New Roman" panose="02020603050405020304" pitchFamily="18" charset="0"/>
                          <a:cs typeface="Times New Roman" panose="02020603050405020304" pitchFamily="18" charset="0"/>
                        </a:rPr>
                        <a:t>0.9603072983354674</a:t>
                      </a:r>
                      <a:endParaRPr lang="en-US" sz="1200" dirty="0">
                        <a:effectLst/>
                        <a:latin typeface="Times New Roman" panose="02020603050405020304" pitchFamily="18" charset="0"/>
                        <a:cs typeface="Times New Roman" panose="02020603050405020304" pitchFamily="18" charset="0"/>
                      </a:endParaRPr>
                    </a:p>
                  </a:txBody>
                  <a:tcPr marL="63500" marR="63500" marT="63500" marB="63500"/>
                </a:tc>
                <a:extLst>
                  <a:ext uri="{0D108BD9-81ED-4DB2-BD59-A6C34878D82A}">
                    <a16:rowId xmlns:a16="http://schemas.microsoft.com/office/drawing/2014/main" val="2665506326"/>
                  </a:ext>
                </a:extLst>
              </a:tr>
            </a:tbl>
          </a:graphicData>
        </a:graphic>
      </p:graphicFrame>
      <p:sp>
        <p:nvSpPr>
          <p:cNvPr id="11" name="TextBox 10">
            <a:extLst>
              <a:ext uri="{FF2B5EF4-FFF2-40B4-BE49-F238E27FC236}">
                <a16:creationId xmlns:a16="http://schemas.microsoft.com/office/drawing/2014/main" id="{1E9A3C2F-32A2-462B-89B1-CF5F5088DB6B}"/>
              </a:ext>
            </a:extLst>
          </p:cNvPr>
          <p:cNvSpPr txBox="1"/>
          <p:nvPr/>
        </p:nvSpPr>
        <p:spPr>
          <a:xfrm>
            <a:off x="7384946" y="5363269"/>
            <a:ext cx="2660857" cy="276999"/>
          </a:xfrm>
          <a:prstGeom prst="rect">
            <a:avLst/>
          </a:prstGeom>
          <a:noFill/>
        </p:spPr>
        <p:txBody>
          <a:bodyPr wrap="none" rtlCol="0">
            <a:spAutoFit/>
          </a:bodyPr>
          <a:lstStyle/>
          <a:p>
            <a:r>
              <a:rPr lang="en-US" sz="1200" dirty="0"/>
              <a:t>Figure: Bar Chart of Model Accuracy</a:t>
            </a:r>
          </a:p>
        </p:txBody>
      </p:sp>
    </p:spTree>
    <p:extLst>
      <p:ext uri="{BB962C8B-B14F-4D97-AF65-F5344CB8AC3E}">
        <p14:creationId xmlns:p14="http://schemas.microsoft.com/office/powerpoint/2010/main" val="553860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12</a:t>
            </a:fld>
            <a:endParaRPr lang="en-US" dirty="0"/>
          </a:p>
        </p:txBody>
      </p:sp>
      <p:sp>
        <p:nvSpPr>
          <p:cNvPr id="3" name="TextBox 2">
            <a:extLst>
              <a:ext uri="{FF2B5EF4-FFF2-40B4-BE49-F238E27FC236}">
                <a16:creationId xmlns:a16="http://schemas.microsoft.com/office/drawing/2014/main" id="{BD882494-1CF7-C6C6-FB3F-1E5CF30DAEE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6" name="Content Placeholder 2">
            <a:extLst>
              <a:ext uri="{FF2B5EF4-FFF2-40B4-BE49-F238E27FC236}">
                <a16:creationId xmlns:a16="http://schemas.microsoft.com/office/drawing/2014/main" id="{6F8B39C2-1AAD-429E-A58D-FB9FC7B563F8}"/>
              </a:ext>
            </a:extLst>
          </p:cNvPr>
          <p:cNvSpPr>
            <a:spLocks noGrp="1"/>
          </p:cNvSpPr>
          <p:nvPr>
            <p:ph sz="quarter" idx="13"/>
          </p:nvPr>
        </p:nvSpPr>
        <p:spPr>
          <a:xfrm>
            <a:off x="609600" y="1676400"/>
            <a:ext cx="10972800" cy="3962400"/>
          </a:xfrm>
        </p:spPr>
        <p:txBody>
          <a:bodyPr>
            <a:normAutofit lnSpcReduction="10000"/>
          </a:bodyPr>
          <a:lstStyle/>
          <a:p>
            <a:r>
              <a:rPr lang="en-US" sz="2000" b="1" dirty="0">
                <a:solidFill>
                  <a:schemeClr val="tx1"/>
                </a:solidFill>
                <a:latin typeface="Times New Roman" panose="02020603050405020304" pitchFamily="18" charset="0"/>
                <a:cs typeface="Times New Roman" panose="02020603050405020304" pitchFamily="18" charset="0"/>
              </a:rPr>
              <a:t>Hybrid Deep Learning Model</a:t>
            </a:r>
            <a:r>
              <a:rPr lang="en-US" sz="2000" dirty="0">
                <a:solidFill>
                  <a:schemeClr val="tx1"/>
                </a:solidFill>
                <a:latin typeface="Times New Roman" panose="02020603050405020304" pitchFamily="18" charset="0"/>
                <a:cs typeface="Times New Roman" panose="02020603050405020304" pitchFamily="18" charset="0"/>
              </a:rPr>
              <a:t>:</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 integration of a Shallow CNN with VGG16 transfer learning to form a hybrid model for pneumonia detection is an innovative approach that combines low-level feature extraction (from CNN) with high-level semantic understanding (from VGG16), offering both accuracy and computational efficiency.</a:t>
            </a:r>
          </a:p>
          <a:p>
            <a:r>
              <a:rPr lang="en-US" sz="2000" b="1" dirty="0">
                <a:solidFill>
                  <a:schemeClr val="tx1"/>
                </a:solidFill>
                <a:latin typeface="Times New Roman" panose="02020603050405020304" pitchFamily="18" charset="0"/>
                <a:cs typeface="Times New Roman" panose="02020603050405020304" pitchFamily="18" charset="0"/>
              </a:rPr>
              <a:t>Optimized for Resource-Limited Environments</a:t>
            </a:r>
            <a:r>
              <a:rPr lang="en-US" sz="2000" dirty="0">
                <a:solidFill>
                  <a:schemeClr val="tx1"/>
                </a:solidFill>
                <a:latin typeface="Times New Roman" panose="02020603050405020304" pitchFamily="18" charset="0"/>
                <a:cs typeface="Times New Roman" panose="02020603050405020304" pitchFamily="18" charset="0"/>
              </a:rPr>
              <a:t>:</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Unlike traditional deep learning models, which require extensive computational resources, the proposed hybrid model is designed to work effectively in low-resource settings (e.g., rural hospitals), making it suitable for real-world deployment without the need for expensive hardware.</a:t>
            </a:r>
          </a:p>
          <a:p>
            <a:r>
              <a:rPr lang="en-US" sz="2000" b="1" dirty="0">
                <a:solidFill>
                  <a:schemeClr val="tx1"/>
                </a:solidFill>
                <a:latin typeface="Times New Roman" panose="02020603050405020304" pitchFamily="18" charset="0"/>
                <a:cs typeface="Times New Roman" panose="02020603050405020304" pitchFamily="18" charset="0"/>
              </a:rPr>
              <a:t>Explainable AI Integration</a:t>
            </a:r>
            <a:r>
              <a:rPr lang="en-US" sz="2000" dirty="0">
                <a:solidFill>
                  <a:schemeClr val="tx1"/>
                </a:solidFill>
                <a:latin typeface="Times New Roman" panose="02020603050405020304" pitchFamily="18" charset="0"/>
                <a:cs typeface="Times New Roman" panose="02020603050405020304" pitchFamily="18" charset="0"/>
              </a:rPr>
              <a:t>:</a:t>
            </a:r>
            <a:br>
              <a:rPr lang="en-US" sz="2000" dirty="0">
                <a:solidFill>
                  <a:schemeClr val="tx1"/>
                </a:solidFill>
                <a:latin typeface="Times New Roman" panose="02020603050405020304" pitchFamily="18" charset="0"/>
                <a:cs typeface="Times New Roman" panose="02020603050405020304" pitchFamily="18" charset="0"/>
              </a:rPr>
            </a:br>
            <a:r>
              <a:rPr lang="en-US" sz="2000" dirty="0">
                <a:solidFill>
                  <a:schemeClr val="tx1"/>
                </a:solidFill>
                <a:latin typeface="Times New Roman" panose="02020603050405020304" pitchFamily="18" charset="0"/>
                <a:cs typeface="Times New Roman" panose="02020603050405020304" pitchFamily="18" charset="0"/>
              </a:rPr>
              <a:t>The novel use of Explainable AI (XAI) techniques like SHAP, LIME, and Grad-CAM ensures that the model's decisions are transparent and interpretable. This is crucial for clinical adoption, where trust and understanding of AI-based decisions are paramount.</a:t>
            </a:r>
          </a:p>
        </p:txBody>
      </p:sp>
    </p:spTree>
    <p:extLst>
      <p:ext uri="{BB962C8B-B14F-4D97-AF65-F5344CB8AC3E}">
        <p14:creationId xmlns:p14="http://schemas.microsoft.com/office/powerpoint/2010/main" val="9202743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13</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1030" name="Picture 33">
            <a:extLst>
              <a:ext uri="{FF2B5EF4-FFF2-40B4-BE49-F238E27FC236}">
                <a16:creationId xmlns:a16="http://schemas.microsoft.com/office/drawing/2014/main" id="{067580E8-2B49-42CF-954D-3FD6185428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391192"/>
            <a:ext cx="2200275" cy="1628233"/>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34">
            <a:extLst>
              <a:ext uri="{FF2B5EF4-FFF2-40B4-BE49-F238E27FC236}">
                <a16:creationId xmlns:a16="http://schemas.microsoft.com/office/drawing/2014/main" id="{90B59AA6-3CFE-4758-9C38-E663FD271C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0162" y="1391192"/>
            <a:ext cx="2175130" cy="162823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35">
            <a:extLst>
              <a:ext uri="{FF2B5EF4-FFF2-40B4-BE49-F238E27FC236}">
                <a16:creationId xmlns:a16="http://schemas.microsoft.com/office/drawing/2014/main" id="{6716D811-94D5-4342-9840-99B82BCF31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9178" y="1391192"/>
            <a:ext cx="2196822" cy="162823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7">
            <a:extLst>
              <a:ext uri="{FF2B5EF4-FFF2-40B4-BE49-F238E27FC236}">
                <a16:creationId xmlns:a16="http://schemas.microsoft.com/office/drawing/2014/main" id="{7A6A54CE-F92A-4E63-96EC-CD02361AF5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3523178"/>
            <a:ext cx="2200275" cy="173006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38">
            <a:extLst>
              <a:ext uri="{FF2B5EF4-FFF2-40B4-BE49-F238E27FC236}">
                <a16:creationId xmlns:a16="http://schemas.microsoft.com/office/drawing/2014/main" id="{3217C49E-2949-4288-BDA9-69849BF5233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0162" y="3522293"/>
            <a:ext cx="2175129" cy="1735074"/>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39">
            <a:extLst>
              <a:ext uri="{FF2B5EF4-FFF2-40B4-BE49-F238E27FC236}">
                <a16:creationId xmlns:a16="http://schemas.microsoft.com/office/drawing/2014/main" id="{8B4EE1FA-9E54-40FB-9119-3F72C5948D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09178" y="3518170"/>
            <a:ext cx="2196822" cy="173507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7">
            <a:extLst>
              <a:ext uri="{FF2B5EF4-FFF2-40B4-BE49-F238E27FC236}">
                <a16:creationId xmlns:a16="http://schemas.microsoft.com/office/drawing/2014/main" id="{17087134-AD0D-4FB9-8F25-66ADCC44B46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8">
            <a:extLst>
              <a:ext uri="{FF2B5EF4-FFF2-40B4-BE49-F238E27FC236}">
                <a16:creationId xmlns:a16="http://schemas.microsoft.com/office/drawing/2014/main" id="{CF341141-20EC-493C-B2FA-48E951323851}"/>
              </a:ext>
            </a:extLst>
          </p:cNvPr>
          <p:cNvSpPr>
            <a:spLocks noChangeArrowheads="1"/>
          </p:cNvSpPr>
          <p:nvPr/>
        </p:nvSpPr>
        <p:spPr bwMode="auto">
          <a:xfrm>
            <a:off x="2731553" y="3059452"/>
            <a:ext cx="6728893"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X-Ray: Normal</a:t>
            </a:r>
            <a:endParaRPr kumimoji="0" lang="en-US" altLang="en-US" sz="1200" b="0" i="0" u="none" strike="noStrike" cap="none" normalizeH="0" baseline="0" dirty="0">
              <a:ln>
                <a:noFill/>
              </a:ln>
              <a:solidFill>
                <a:schemeClr val="tx1"/>
              </a:solidFill>
              <a:effectLst/>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9">
            <a:extLst>
              <a:ext uri="{FF2B5EF4-FFF2-40B4-BE49-F238E27FC236}">
                <a16:creationId xmlns:a16="http://schemas.microsoft.com/office/drawing/2014/main" id="{805815EE-C175-4351-AB93-AFCDC7E36935}"/>
              </a:ext>
            </a:extLst>
          </p:cNvPr>
          <p:cNvSpPr>
            <a:spLocks noChangeArrowheads="1"/>
          </p:cNvSpPr>
          <p:nvPr/>
        </p:nvSpPr>
        <p:spPr bwMode="auto">
          <a:xfrm>
            <a:off x="31376" y="5253244"/>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X-Ray: Pneumonia</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29273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752600" y="130942"/>
            <a:ext cx="9448800" cy="868362"/>
          </a:xfrm>
        </p:spPr>
        <p:txBody>
          <a:bodyPr>
            <a:normAutofit/>
          </a:bodyPr>
          <a:lstStyle/>
          <a:p>
            <a:r>
              <a:rPr lang="en-US" dirty="0">
                <a:solidFill>
                  <a:srgbClr val="7030A0"/>
                </a:solidFill>
                <a:latin typeface="Times New Roman" pitchFamily="18" charset="0"/>
                <a:cs typeface="Times New Roman" pitchFamily="18" charset="0"/>
              </a:rPr>
              <a:t>Expected Output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14</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Rectangle 7">
            <a:extLst>
              <a:ext uri="{FF2B5EF4-FFF2-40B4-BE49-F238E27FC236}">
                <a16:creationId xmlns:a16="http://schemas.microsoft.com/office/drawing/2014/main" id="{17087134-AD0D-4FB9-8F25-66ADCC44B46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Content Placeholder 2">
            <a:extLst>
              <a:ext uri="{FF2B5EF4-FFF2-40B4-BE49-F238E27FC236}">
                <a16:creationId xmlns:a16="http://schemas.microsoft.com/office/drawing/2014/main" id="{930B8638-617E-4040-8A3C-EBEE2A0AE2D6}"/>
              </a:ext>
            </a:extLst>
          </p:cNvPr>
          <p:cNvSpPr>
            <a:spLocks noGrp="1"/>
          </p:cNvSpPr>
          <p:nvPr>
            <p:ph sz="quarter" idx="13"/>
          </p:nvPr>
        </p:nvSpPr>
        <p:spPr>
          <a:xfrm>
            <a:off x="390525" y="1143000"/>
            <a:ext cx="11867958" cy="4131187"/>
          </a:xfrm>
        </p:spPr>
        <p:txBody>
          <a:bodyPr>
            <a:noAutofit/>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Explainability Visualizations:</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15" name="Picture 2">
            <a:extLst>
              <a:ext uri="{FF2B5EF4-FFF2-40B4-BE49-F238E27FC236}">
                <a16:creationId xmlns:a16="http://schemas.microsoft.com/office/drawing/2014/main" id="{D5CAFDAA-7AC5-4C5C-8F24-025D2D51DF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583813"/>
            <a:ext cx="3281031" cy="346782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a:extLst>
              <a:ext uri="{FF2B5EF4-FFF2-40B4-BE49-F238E27FC236}">
                <a16:creationId xmlns:a16="http://schemas.microsoft.com/office/drawing/2014/main" id="{1899BB9F-6FB6-4A0F-8E8D-D52CC67E2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652075"/>
            <a:ext cx="6829425" cy="34671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F66045B8-C5C0-4F1E-930C-47BF67E23B34}"/>
              </a:ext>
            </a:extLst>
          </p:cNvPr>
          <p:cNvSpPr txBox="1"/>
          <p:nvPr/>
        </p:nvSpPr>
        <p:spPr>
          <a:xfrm>
            <a:off x="1465285" y="5274187"/>
            <a:ext cx="1569660"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Figure: LIME Output</a:t>
            </a:r>
          </a:p>
        </p:txBody>
      </p:sp>
      <p:sp>
        <p:nvSpPr>
          <p:cNvPr id="18" name="TextBox 17">
            <a:extLst>
              <a:ext uri="{FF2B5EF4-FFF2-40B4-BE49-F238E27FC236}">
                <a16:creationId xmlns:a16="http://schemas.microsoft.com/office/drawing/2014/main" id="{C3E59F0A-AB5D-4248-95FC-E130E970B535}"/>
              </a:ext>
            </a:extLst>
          </p:cNvPr>
          <p:cNvSpPr txBox="1"/>
          <p:nvPr/>
        </p:nvSpPr>
        <p:spPr>
          <a:xfrm>
            <a:off x="7162800" y="5274187"/>
            <a:ext cx="1520673"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Figure: SHAP Output</a:t>
            </a:r>
          </a:p>
        </p:txBody>
      </p:sp>
    </p:spTree>
    <p:extLst>
      <p:ext uri="{BB962C8B-B14F-4D97-AF65-F5344CB8AC3E}">
        <p14:creationId xmlns:p14="http://schemas.microsoft.com/office/powerpoint/2010/main" val="39589709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752600" y="130942"/>
            <a:ext cx="9448800" cy="868362"/>
          </a:xfrm>
        </p:spPr>
        <p:txBody>
          <a:bodyPr>
            <a:normAutofit/>
          </a:bodyPr>
          <a:lstStyle/>
          <a:p>
            <a:r>
              <a:rPr lang="en-US" dirty="0">
                <a:solidFill>
                  <a:srgbClr val="7030A0"/>
                </a:solidFill>
                <a:latin typeface="Times New Roman"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15</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Rectangle 7">
            <a:extLst>
              <a:ext uri="{FF2B5EF4-FFF2-40B4-BE49-F238E27FC236}">
                <a16:creationId xmlns:a16="http://schemas.microsoft.com/office/drawing/2014/main" id="{17087134-AD0D-4FB9-8F25-66ADCC44B46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Content Placeholder 2">
            <a:extLst>
              <a:ext uri="{FF2B5EF4-FFF2-40B4-BE49-F238E27FC236}">
                <a16:creationId xmlns:a16="http://schemas.microsoft.com/office/drawing/2014/main" id="{930B8638-617E-4040-8A3C-EBEE2A0AE2D6}"/>
              </a:ext>
            </a:extLst>
          </p:cNvPr>
          <p:cNvSpPr>
            <a:spLocks noGrp="1"/>
          </p:cNvSpPr>
          <p:nvPr>
            <p:ph sz="quarter" idx="13"/>
          </p:nvPr>
        </p:nvSpPr>
        <p:spPr>
          <a:xfrm>
            <a:off x="390525" y="1143000"/>
            <a:ext cx="11867958" cy="4131187"/>
          </a:xfrm>
        </p:spPr>
        <p:txBody>
          <a:bodyPr>
            <a:noAutofit/>
          </a:bodyPr>
          <a:lstStyle/>
          <a:p>
            <a:pPr marL="0" indent="0">
              <a:buNone/>
            </a:pPr>
            <a:r>
              <a:rPr lang="en-US" sz="2400" dirty="0">
                <a:solidFill>
                  <a:schemeClr val="tx1"/>
                </a:solidFill>
                <a:latin typeface="Times New Roman" panose="02020603050405020304" pitchFamily="18" charset="0"/>
                <a:cs typeface="Times New Roman" panose="02020603050405020304" pitchFamily="18" charset="0"/>
              </a:rPr>
              <a:t>Explainability Visualizations:</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11" name="Picture 2">
            <a:extLst>
              <a:ext uri="{FF2B5EF4-FFF2-40B4-BE49-F238E27FC236}">
                <a16:creationId xmlns:a16="http://schemas.microsoft.com/office/drawing/2014/main" id="{5AB943EA-DBC0-4377-85B3-AC3087948E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792" y="1848080"/>
            <a:ext cx="10370608" cy="336913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D21AE71-424D-4CE2-ACBF-6838944BFB64}"/>
              </a:ext>
            </a:extLst>
          </p:cNvPr>
          <p:cNvSpPr txBox="1"/>
          <p:nvPr/>
        </p:nvSpPr>
        <p:spPr>
          <a:xfrm>
            <a:off x="5141251" y="5425724"/>
            <a:ext cx="1810111"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Figure: Grad-CAM output</a:t>
            </a:r>
          </a:p>
        </p:txBody>
      </p:sp>
    </p:spTree>
    <p:extLst>
      <p:ext uri="{BB962C8B-B14F-4D97-AF65-F5344CB8AC3E}">
        <p14:creationId xmlns:p14="http://schemas.microsoft.com/office/powerpoint/2010/main" val="1325185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752600" y="130942"/>
            <a:ext cx="9448800" cy="868362"/>
          </a:xfrm>
        </p:spPr>
        <p:txBody>
          <a:bodyPr>
            <a:normAutofit/>
          </a:bodyPr>
          <a:lstStyle/>
          <a:p>
            <a:r>
              <a:rPr lang="en-US" dirty="0">
                <a:solidFill>
                  <a:srgbClr val="7030A0"/>
                </a:solidFill>
                <a:latin typeface="Times New Roman" pitchFamily="18" charset="0"/>
                <a:cs typeface="Times New Roman" pitchFamily="18" charset="0"/>
              </a:rPr>
              <a:t>Expected Output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pPr>
                <a:defRPr/>
              </a:pPr>
              <a:t>16</a:t>
            </a:fld>
            <a:endParaRPr lang="en-US" dirty="0"/>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Rectangle 7">
            <a:extLst>
              <a:ext uri="{FF2B5EF4-FFF2-40B4-BE49-F238E27FC236}">
                <a16:creationId xmlns:a16="http://schemas.microsoft.com/office/drawing/2014/main" id="{17087134-AD0D-4FB9-8F25-66ADCC44B46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3" name="Picture 2">
            <a:extLst>
              <a:ext uri="{FF2B5EF4-FFF2-40B4-BE49-F238E27FC236}">
                <a16:creationId xmlns:a16="http://schemas.microsoft.com/office/drawing/2014/main" id="{F36F86F6-5479-4E0E-8C82-224976F7FB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0108" y="1260972"/>
            <a:ext cx="3694183" cy="390449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a:extLst>
              <a:ext uri="{FF2B5EF4-FFF2-40B4-BE49-F238E27FC236}">
                <a16:creationId xmlns:a16="http://schemas.microsoft.com/office/drawing/2014/main" id="{539F1045-E949-4E61-A7AF-CCDFE174E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260972"/>
            <a:ext cx="5629275" cy="4153018"/>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7D571131-CE75-4ED2-B0FB-DC4EF8BB55DA}"/>
              </a:ext>
            </a:extLst>
          </p:cNvPr>
          <p:cNvSpPr txBox="1"/>
          <p:nvPr/>
        </p:nvSpPr>
        <p:spPr>
          <a:xfrm>
            <a:off x="8285850" y="5372428"/>
            <a:ext cx="2122697"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Figure: Disagreement Heatmap</a:t>
            </a:r>
          </a:p>
        </p:txBody>
      </p:sp>
      <p:sp>
        <p:nvSpPr>
          <p:cNvPr id="21" name="TextBox 20">
            <a:extLst>
              <a:ext uri="{FF2B5EF4-FFF2-40B4-BE49-F238E27FC236}">
                <a16:creationId xmlns:a16="http://schemas.microsoft.com/office/drawing/2014/main" id="{94B55F72-F572-4282-866F-B27FDC652A19}"/>
              </a:ext>
            </a:extLst>
          </p:cNvPr>
          <p:cNvSpPr txBox="1"/>
          <p:nvPr/>
        </p:nvSpPr>
        <p:spPr>
          <a:xfrm>
            <a:off x="3168613" y="5366303"/>
            <a:ext cx="1616148" cy="276999"/>
          </a:xfrm>
          <a:prstGeom prst="rect">
            <a:avLst/>
          </a:prstGeom>
          <a:noFill/>
        </p:spPr>
        <p:txBody>
          <a:bodyPr wrap="none" rtlCol="0">
            <a:spAutoFit/>
          </a:bodyPr>
          <a:lstStyle/>
          <a:p>
            <a:r>
              <a:rPr lang="en-US" sz="1200" dirty="0">
                <a:latin typeface="Times New Roman" panose="02020603050405020304" pitchFamily="18" charset="0"/>
                <a:cs typeface="Times New Roman" panose="02020603050405020304" pitchFamily="18" charset="0"/>
              </a:rPr>
              <a:t>Figure: Deletion Curve</a:t>
            </a:r>
          </a:p>
        </p:txBody>
      </p:sp>
      <p:sp>
        <p:nvSpPr>
          <p:cNvPr id="22" name="TextBox 21">
            <a:extLst>
              <a:ext uri="{FF2B5EF4-FFF2-40B4-BE49-F238E27FC236}">
                <a16:creationId xmlns:a16="http://schemas.microsoft.com/office/drawing/2014/main" id="{5C85FEA0-AEBB-4FBD-A090-10746B6D598B}"/>
              </a:ext>
            </a:extLst>
          </p:cNvPr>
          <p:cNvSpPr txBox="1"/>
          <p:nvPr/>
        </p:nvSpPr>
        <p:spPr>
          <a:xfrm>
            <a:off x="914400" y="5711657"/>
            <a:ext cx="6124574" cy="646331"/>
          </a:xfrm>
          <a:prstGeom prst="rect">
            <a:avLst/>
          </a:prstGeom>
          <a:noFill/>
        </p:spPr>
        <p:txBody>
          <a:bodyPr wrap="square">
            <a:spAutoFit/>
          </a:bodyPr>
          <a:lstStyle/>
          <a:p>
            <a:pPr marL="285750" indent="-285750">
              <a:buFont typeface="Wingdings" panose="05000000000000000000" pitchFamily="2" charset="2"/>
              <a:buChar char="q"/>
            </a:pPr>
            <a:r>
              <a:rPr lang="en-US" b="0" i="0" dirty="0">
                <a:solidFill>
                  <a:srgbClr val="1F1F1F"/>
                </a:solidFill>
                <a:effectLst/>
                <a:latin typeface="Courier New" panose="02070309020205020404" pitchFamily="49" charset="0"/>
              </a:rPr>
              <a:t>AUC = 9.157678 </a:t>
            </a:r>
            <a:br>
              <a:rPr lang="en-US" dirty="0"/>
            </a:br>
            <a:endParaRPr lang="en-US" dirty="0"/>
          </a:p>
        </p:txBody>
      </p:sp>
    </p:spTree>
    <p:extLst>
      <p:ext uri="{BB962C8B-B14F-4D97-AF65-F5344CB8AC3E}">
        <p14:creationId xmlns:p14="http://schemas.microsoft.com/office/powerpoint/2010/main" val="1814229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CCF1-4663-0FAC-E557-C8C860184D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17</a:t>
            </a:fld>
            <a:endParaRPr lang="en-US" dirty="0"/>
          </a:p>
        </p:txBody>
      </p:sp>
      <p:sp>
        <p:nvSpPr>
          <p:cNvPr id="3" name="TextBox 2">
            <a:extLst>
              <a:ext uri="{FF2B5EF4-FFF2-40B4-BE49-F238E27FC236}">
                <a16:creationId xmlns:a16="http://schemas.microsoft.com/office/drawing/2014/main"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Title 6">
            <a:extLst>
              <a:ext uri="{FF2B5EF4-FFF2-40B4-BE49-F238E27FC236}">
                <a16:creationId xmlns:a16="http://schemas.microsoft.com/office/drawing/2014/main" id="{48643CE7-A667-4527-B046-C14FAA0FF720}"/>
              </a:ext>
            </a:extLst>
          </p:cNvPr>
          <p:cNvSpPr>
            <a:spLocks noGrp="1"/>
          </p:cNvSpPr>
          <p:nvPr>
            <p:ph type="title"/>
          </p:nvPr>
        </p:nvSpPr>
        <p:spPr>
          <a:xfrm>
            <a:off x="609600" y="87976"/>
            <a:ext cx="10972800" cy="1143000"/>
          </a:xfrm>
        </p:spPr>
        <p:txBody>
          <a:bodyPr/>
          <a:lstStyle/>
          <a:p>
            <a:r>
              <a:rPr lang="en-US" dirty="0">
                <a:solidFill>
                  <a:srgbClr val="7030A0"/>
                </a:solidFill>
                <a:latin typeface="Times New Roman" panose="02020603050405020304" pitchFamily="18" charset="0"/>
                <a:cs typeface="Times New Roman" panose="02020603050405020304" pitchFamily="18" charset="0"/>
              </a:rPr>
              <a:t>Web Interface of Image Enhancement</a:t>
            </a:r>
            <a:endParaRPr lang="en-US" dirty="0"/>
          </a:p>
        </p:txBody>
      </p:sp>
      <p:pic>
        <p:nvPicPr>
          <p:cNvPr id="10" name="Content Placeholder 13">
            <a:extLst>
              <a:ext uri="{FF2B5EF4-FFF2-40B4-BE49-F238E27FC236}">
                <a16:creationId xmlns:a16="http://schemas.microsoft.com/office/drawing/2014/main" id="{0D8B84E8-EE88-4ADB-9D38-BB69FF5AEA01}"/>
              </a:ext>
            </a:extLst>
          </p:cNvPr>
          <p:cNvPicPr>
            <a:picLocks noChangeAspect="1"/>
          </p:cNvPicPr>
          <p:nvPr/>
        </p:nvPicPr>
        <p:blipFill rotWithShape="1">
          <a:blip r:embed="rId2"/>
          <a:srcRect l="12736"/>
          <a:stretch/>
        </p:blipFill>
        <p:spPr>
          <a:xfrm>
            <a:off x="6590210" y="3683838"/>
            <a:ext cx="4386556" cy="2361908"/>
          </a:xfrm>
          <a:prstGeom prst="rect">
            <a:avLst/>
          </a:prstGeom>
        </p:spPr>
      </p:pic>
      <p:pic>
        <p:nvPicPr>
          <p:cNvPr id="11" name="Picture 10">
            <a:extLst>
              <a:ext uri="{FF2B5EF4-FFF2-40B4-BE49-F238E27FC236}">
                <a16:creationId xmlns:a16="http://schemas.microsoft.com/office/drawing/2014/main" id="{CAEEC1DB-16FF-46BE-9411-808253DA7639}"/>
              </a:ext>
            </a:extLst>
          </p:cNvPr>
          <p:cNvPicPr>
            <a:picLocks noChangeAspect="1"/>
          </p:cNvPicPr>
          <p:nvPr/>
        </p:nvPicPr>
        <p:blipFill>
          <a:blip r:embed="rId3"/>
          <a:stretch>
            <a:fillRect/>
          </a:stretch>
        </p:blipFill>
        <p:spPr>
          <a:xfrm>
            <a:off x="866504" y="3683838"/>
            <a:ext cx="5213289" cy="2361908"/>
          </a:xfrm>
          <a:prstGeom prst="rect">
            <a:avLst/>
          </a:prstGeom>
        </p:spPr>
      </p:pic>
      <p:pic>
        <p:nvPicPr>
          <p:cNvPr id="12" name="Picture 11">
            <a:extLst>
              <a:ext uri="{FF2B5EF4-FFF2-40B4-BE49-F238E27FC236}">
                <a16:creationId xmlns:a16="http://schemas.microsoft.com/office/drawing/2014/main" id="{DB99997E-A371-4D92-9D0D-8D1B17F0FC2B}"/>
              </a:ext>
            </a:extLst>
          </p:cNvPr>
          <p:cNvPicPr>
            <a:picLocks noChangeAspect="1"/>
          </p:cNvPicPr>
          <p:nvPr/>
        </p:nvPicPr>
        <p:blipFill rotWithShape="1">
          <a:blip r:embed="rId4"/>
          <a:srcRect r="2197"/>
          <a:stretch/>
        </p:blipFill>
        <p:spPr>
          <a:xfrm>
            <a:off x="866503" y="1297178"/>
            <a:ext cx="5213289" cy="2131821"/>
          </a:xfrm>
          <a:prstGeom prst="rect">
            <a:avLst/>
          </a:prstGeom>
        </p:spPr>
      </p:pic>
      <p:pic>
        <p:nvPicPr>
          <p:cNvPr id="13" name="Picture 12">
            <a:extLst>
              <a:ext uri="{FF2B5EF4-FFF2-40B4-BE49-F238E27FC236}">
                <a16:creationId xmlns:a16="http://schemas.microsoft.com/office/drawing/2014/main" id="{37FA2F68-B70F-4C20-9991-B679726E2FC6}"/>
              </a:ext>
            </a:extLst>
          </p:cNvPr>
          <p:cNvPicPr>
            <a:picLocks noChangeAspect="1"/>
          </p:cNvPicPr>
          <p:nvPr/>
        </p:nvPicPr>
        <p:blipFill>
          <a:blip r:embed="rId5"/>
          <a:stretch>
            <a:fillRect/>
          </a:stretch>
        </p:blipFill>
        <p:spPr>
          <a:xfrm>
            <a:off x="6590210" y="1309318"/>
            <a:ext cx="4386556" cy="2131821"/>
          </a:xfrm>
          <a:prstGeom prst="rect">
            <a:avLst/>
          </a:prstGeom>
        </p:spPr>
      </p:pic>
    </p:spTree>
    <p:extLst>
      <p:ext uri="{BB962C8B-B14F-4D97-AF65-F5344CB8AC3E}">
        <p14:creationId xmlns:p14="http://schemas.microsoft.com/office/powerpoint/2010/main" val="542728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CCF1-4663-0FAC-E557-C8C860184D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18</a:t>
            </a:fld>
            <a:endParaRPr lang="en-US" dirty="0"/>
          </a:p>
        </p:txBody>
      </p:sp>
      <p:sp>
        <p:nvSpPr>
          <p:cNvPr id="3" name="TextBox 2">
            <a:extLst>
              <a:ext uri="{FF2B5EF4-FFF2-40B4-BE49-F238E27FC236}">
                <a16:creationId xmlns:a16="http://schemas.microsoft.com/office/drawing/2014/main"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5" name="Content Placeholder 2">
            <a:extLst>
              <a:ext uri="{FF2B5EF4-FFF2-40B4-BE49-F238E27FC236}">
                <a16:creationId xmlns:a16="http://schemas.microsoft.com/office/drawing/2014/main" id="{E35EF0AF-8B4F-4469-BA0F-C5BCAE59DA5D}"/>
              </a:ext>
            </a:extLst>
          </p:cNvPr>
          <p:cNvSpPr>
            <a:spLocks noGrp="1"/>
          </p:cNvSpPr>
          <p:nvPr>
            <p:ph sz="quarter" idx="13"/>
          </p:nvPr>
        </p:nvSpPr>
        <p:spPr>
          <a:xfrm>
            <a:off x="533400" y="1143000"/>
            <a:ext cx="11049000" cy="4495800"/>
          </a:xfrm>
        </p:spPr>
        <p:txBody>
          <a:bodyPr>
            <a:normAutofit/>
          </a:bodyPr>
          <a:lstStyle/>
          <a:p>
            <a:pPr marL="0" indent="0">
              <a:buNone/>
            </a:pPr>
            <a:r>
              <a:rPr lang="en-US" sz="1800" b="1" dirty="0">
                <a:solidFill>
                  <a:schemeClr val="tx1"/>
                </a:solidFill>
                <a:latin typeface="Times New Roman" panose="02020603050405020304" pitchFamily="18" charset="0"/>
                <a:cs typeface="Times New Roman" panose="02020603050405020304" pitchFamily="18" charset="0"/>
              </a:rPr>
              <a:t>Objective Achieved</a:t>
            </a:r>
            <a:r>
              <a:rPr lang="en-US" sz="1800" dirty="0">
                <a:solidFill>
                  <a:schemeClr val="tx1"/>
                </a:solidFill>
                <a:latin typeface="Times New Roman" panose="02020603050405020304" pitchFamily="18" charset="0"/>
                <a:cs typeface="Times New Roman" panose="02020603050405020304" pitchFamily="18" charset="0"/>
              </a:rPr>
              <a:t>: </a:t>
            </a:r>
          </a:p>
          <a:p>
            <a:pPr lvl="1">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project successfully developed a hybrid deep learning model combining Shallow CNN and VGG16 transfer learning for accurate pneumonia detection from chest X-ray images. This model demonstrated high accuracy (96%) and was optimized for use in resource-limited clinical settings.</a:t>
            </a:r>
          </a:p>
          <a:p>
            <a:pPr marL="0" indent="0">
              <a:buNone/>
            </a:pPr>
            <a:r>
              <a:rPr lang="en-US" sz="1800" b="1" dirty="0">
                <a:solidFill>
                  <a:schemeClr val="tx1"/>
                </a:solidFill>
                <a:latin typeface="Times New Roman" panose="02020603050405020304" pitchFamily="18" charset="0"/>
                <a:cs typeface="Times New Roman" panose="02020603050405020304" pitchFamily="18" charset="0"/>
              </a:rPr>
              <a:t>Key Contributions</a:t>
            </a:r>
            <a:r>
              <a:rPr lang="en-US" sz="1800" dirty="0">
                <a:solidFill>
                  <a:schemeClr val="tx1"/>
                </a:solidFill>
                <a:latin typeface="Times New Roman" panose="02020603050405020304" pitchFamily="18" charset="0"/>
                <a:cs typeface="Times New Roman" panose="02020603050405020304" pitchFamily="18" charset="0"/>
              </a:rPr>
              <a:t>:</a:t>
            </a:r>
          </a:p>
          <a:p>
            <a:pPr lvl="1">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hybrid model outperformed individual CNN and VGG16 models in terms of both accuracy and computational efficiency.</a:t>
            </a:r>
          </a:p>
          <a:p>
            <a:pPr lvl="1">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integration of explainable AI (XAI) methods, including SHAP, LIME, and Grad-CAM, enhanced the model's transparency and trustworthiness, making it more suitable for real-world medical applications.</a:t>
            </a:r>
          </a:p>
          <a:p>
            <a:pPr marL="0" indent="0">
              <a:buNone/>
            </a:pPr>
            <a:r>
              <a:rPr lang="en-US" sz="1800" b="1" dirty="0">
                <a:solidFill>
                  <a:schemeClr val="tx1"/>
                </a:solidFill>
                <a:latin typeface="Times New Roman" panose="02020603050405020304" pitchFamily="18" charset="0"/>
                <a:cs typeface="Times New Roman" panose="02020603050405020304" pitchFamily="18" charset="0"/>
              </a:rPr>
              <a:t>Future Work</a:t>
            </a:r>
            <a:r>
              <a:rPr lang="en-US" sz="1800" dirty="0">
                <a:solidFill>
                  <a:schemeClr val="tx1"/>
                </a:solidFill>
                <a:latin typeface="Times New Roman" panose="02020603050405020304" pitchFamily="18" charset="0"/>
                <a:cs typeface="Times New Roman" panose="02020603050405020304" pitchFamily="18" charset="0"/>
              </a:rPr>
              <a:t>:</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Future improvements could include:</a:t>
            </a:r>
          </a:p>
          <a:p>
            <a:pPr lvl="1">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Expanding the model to handle multiple diseases (e.g., tuberculosis, COVID-19).</a:t>
            </a:r>
          </a:p>
          <a:p>
            <a:pPr lvl="1">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Optimizing the model for mobile and edge devices to enable real-time deployment in remote areas.</a:t>
            </a:r>
          </a:p>
          <a:p>
            <a:endParaRPr lang="en-US" sz="2200" dirty="0">
              <a:solidFill>
                <a:schemeClr val="tx1"/>
              </a:solidFill>
              <a:latin typeface="Times New Roman" pitchFamily="18" charset="0"/>
              <a:cs typeface="Times New Roman" pitchFamily="18" charset="0"/>
            </a:endParaRPr>
          </a:p>
        </p:txBody>
      </p:sp>
      <p:sp>
        <p:nvSpPr>
          <p:cNvPr id="7" name="Title 6">
            <a:extLst>
              <a:ext uri="{FF2B5EF4-FFF2-40B4-BE49-F238E27FC236}">
                <a16:creationId xmlns:a16="http://schemas.microsoft.com/office/drawing/2014/main" id="{48643CE7-A667-4527-B046-C14FAA0FF720}"/>
              </a:ext>
            </a:extLst>
          </p:cNvPr>
          <p:cNvSpPr>
            <a:spLocks noGrp="1"/>
          </p:cNvSpPr>
          <p:nvPr>
            <p:ph type="title"/>
          </p:nvPr>
        </p:nvSpPr>
        <p:spPr/>
        <p:txBody>
          <a:bodyPr/>
          <a:lstStyle/>
          <a:p>
            <a:r>
              <a:rPr lang="en-US" dirty="0">
                <a:solidFill>
                  <a:srgbClr val="7030A0"/>
                </a:solidFill>
                <a:latin typeface="Times New Roman" panose="02020603050405020304" pitchFamily="18" charset="0"/>
                <a:cs typeface="Times New Roman" panose="02020603050405020304" pitchFamily="18" charset="0"/>
              </a:rPr>
              <a:t>Conclusion</a:t>
            </a:r>
            <a:endParaRPr lang="en-US" dirty="0"/>
          </a:p>
        </p:txBody>
      </p:sp>
    </p:spTree>
    <p:extLst>
      <p:ext uri="{BB962C8B-B14F-4D97-AF65-F5344CB8AC3E}">
        <p14:creationId xmlns:p14="http://schemas.microsoft.com/office/powerpoint/2010/main" val="3844150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ACCF1-4663-0FAC-E557-C8C860184D6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21EDD-A921-29EF-524A-2EBB5538B25A}"/>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19</a:t>
            </a:fld>
            <a:endParaRPr lang="en-US" dirty="0"/>
          </a:p>
        </p:txBody>
      </p:sp>
      <p:sp>
        <p:nvSpPr>
          <p:cNvPr id="3" name="TextBox 2">
            <a:extLst>
              <a:ext uri="{FF2B5EF4-FFF2-40B4-BE49-F238E27FC236}">
                <a16:creationId xmlns:a16="http://schemas.microsoft.com/office/drawing/2014/main" id="{C6A89BB2-DBB6-BF76-BA68-3DFF2884AD8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Title 6">
            <a:extLst>
              <a:ext uri="{FF2B5EF4-FFF2-40B4-BE49-F238E27FC236}">
                <a16:creationId xmlns:a16="http://schemas.microsoft.com/office/drawing/2014/main" id="{48643CE7-A667-4527-B046-C14FAA0FF720}"/>
              </a:ext>
            </a:extLst>
          </p:cNvPr>
          <p:cNvSpPr>
            <a:spLocks noGrp="1"/>
          </p:cNvSpPr>
          <p:nvPr>
            <p:ph type="title"/>
          </p:nvPr>
        </p:nvSpPr>
        <p:spPr/>
        <p:txBody>
          <a:bodyPr/>
          <a:lstStyle/>
          <a:p>
            <a:r>
              <a:rPr lang="en-US" dirty="0">
                <a:solidFill>
                  <a:srgbClr val="7030A0"/>
                </a:solidFill>
                <a:latin typeface="Times New Roman" pitchFamily="18" charset="0"/>
                <a:cs typeface="Times New Roman" pitchFamily="18" charset="0"/>
              </a:rPr>
              <a:t>References</a:t>
            </a:r>
            <a:endParaRPr lang="en-US" dirty="0"/>
          </a:p>
        </p:txBody>
      </p:sp>
      <p:sp>
        <p:nvSpPr>
          <p:cNvPr id="10" name="Content Placeholder 2">
            <a:extLst>
              <a:ext uri="{FF2B5EF4-FFF2-40B4-BE49-F238E27FC236}">
                <a16:creationId xmlns:a16="http://schemas.microsoft.com/office/drawing/2014/main" id="{ABCCF747-EA1A-429A-ADF2-2ECDB7E750A4}"/>
              </a:ext>
            </a:extLst>
          </p:cNvPr>
          <p:cNvSpPr>
            <a:spLocks noGrp="1"/>
          </p:cNvSpPr>
          <p:nvPr>
            <p:ph sz="quarter" idx="13"/>
          </p:nvPr>
        </p:nvSpPr>
        <p:spPr>
          <a:xfrm>
            <a:off x="609600" y="1676400"/>
            <a:ext cx="10972800" cy="3962400"/>
          </a:xfrm>
        </p:spPr>
        <p:txBody>
          <a:bodyPr>
            <a:normAutofit fontScale="77500" lnSpcReduction="20000"/>
          </a:bodyPr>
          <a:lstStyle/>
          <a:p>
            <a:pPr algn="just">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Mao Liu, Yumeng Tan, Lina Chen, "Pneumonia Detection Based on Deep Neural Network RetinaNet," Proceedings of SPIE, Vol. 11321, 2019. DOI: 10.1117/12.2539633.</a:t>
            </a:r>
          </a:p>
          <a:p>
            <a:pPr algn="just">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Shangjie Yao, Yaowu Chen, Xiang Tian, Rongxin Jiang, "Pneumonia Detection Using an Improved Algorithm Based on Faster R-CNN," Computational and Mathematical Methods in Medicine, 2021. </a:t>
            </a:r>
            <a:r>
              <a:rPr lang="en-US" sz="2400"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https://doi.org/10.1155/2021/8854892</a:t>
            </a:r>
            <a:r>
              <a:rPr lang="en-US" sz="2400" dirty="0">
                <a:solidFill>
                  <a:schemeClr val="tx1"/>
                </a:solidFill>
                <a:latin typeface="Times New Roman" panose="02020603050405020304" pitchFamily="18" charset="0"/>
                <a:cs typeface="Times New Roman" panose="02020603050405020304" pitchFamily="18" charset="0"/>
              </a:rPr>
              <a:t>.</a:t>
            </a:r>
          </a:p>
          <a:p>
            <a:pPr algn="just">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Shagun Sharma and Kalpna Guleria, "A Deep Learning based model for the Detection of Pneumonia from Chest X-Ray Images using VGG-16 and Neural Networks," Procedia Computer Science, Vol. 218, 2023, pp. 357-366.</a:t>
            </a:r>
          </a:p>
          <a:p>
            <a:pPr algn="just">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Mudasir Ali et al., "Pneumonia Detection Using Chest Radiographs With Novel EfficientNetV2L Model," IEEE Access, Vol. 12, 2024. DOI: 10.1109/ACCESS.2024.3372588.</a:t>
            </a:r>
          </a:p>
          <a:p>
            <a:pPr algn="just">
              <a:buFont typeface="+mj-lt"/>
              <a:buAutoNum type="arabicPeriod"/>
            </a:pPr>
            <a:r>
              <a:rPr lang="en-US" sz="2400" dirty="0">
                <a:solidFill>
                  <a:schemeClr val="tx1"/>
                </a:solidFill>
                <a:latin typeface="Times New Roman" panose="02020603050405020304" pitchFamily="18" charset="0"/>
                <a:cs typeface="Times New Roman" panose="02020603050405020304" pitchFamily="18" charset="0"/>
              </a:rPr>
              <a:t>Heewon Ko, Hyunsoo Ha, Hyuna Cho, Kiwon Seo, Jihye Lee, "Pneumonia Detection with Weighted Voting Ensemble of CNN Models," 2019 IEEE International Conference on Artificial Intelligence and Big Data (ICAIBD), 2019. DOI: 10.1109/ICAIBD.2019.8837042.</a:t>
            </a:r>
          </a:p>
          <a:p>
            <a:pPr algn="just">
              <a:buFont typeface="+mj-lt"/>
              <a:buAutoNum type="arabicPeriod"/>
            </a:pPr>
            <a:r>
              <a:rPr lang="en-US" sz="2000" dirty="0">
                <a:solidFill>
                  <a:schemeClr val="tx1"/>
                </a:solidFill>
                <a:latin typeface="Times New Roman" panose="02020603050405020304" pitchFamily="18" charset="0"/>
                <a:cs typeface="Times New Roman" panose="02020603050405020304" pitchFamily="18" charset="0"/>
              </a:rPr>
              <a:t>Y. Yang, G. Mei, and F. Piccialli, “A Deep Learning Approach Considering Image Background for Pneumonia Identification Using Explainable AI (XAI),” IEEE Transactions on Industrial Informatics, pp. 1–12, 2023</a:t>
            </a:r>
            <a:r>
              <a:rPr lang="en-US" sz="2400" dirty="0">
                <a:latin typeface="Times New Roman" panose="02020603050405020304" pitchFamily="18" charset="0"/>
                <a:cs typeface="Times New Roman" panose="02020603050405020304" pitchFamily="18" charset="0"/>
              </a:rPr>
              <a:t>.</a:t>
            </a:r>
            <a:endParaRPr lang="en-US" sz="40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4000" dirty="0"/>
          </a:p>
          <a:p>
            <a:pPr marL="0" indent="0">
              <a:buNone/>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71304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350248" y="5959475"/>
            <a:ext cx="2844800" cy="365125"/>
          </a:xfrm>
        </p:spPr>
        <p:txBody>
          <a:bodyPr/>
          <a:lstStyle/>
          <a:p>
            <a:pPr>
              <a:defRPr/>
            </a:pPr>
            <a:fld id="{4CD333A3-7515-47B8-9EDC-EE0892D9C861}" type="slidenum">
              <a:rPr lang="en-US" smtClean="0"/>
              <a:pPr>
                <a:defRPr/>
              </a:pPr>
              <a:t>20</a:t>
            </a:fld>
            <a:endParaRPr lang="en-US" dirty="0"/>
          </a:p>
        </p:txBody>
      </p:sp>
      <p:sp>
        <p:nvSpPr>
          <p:cNvPr id="5" name="TextBox 4">
            <a:extLst>
              <a:ext uri="{FF2B5EF4-FFF2-40B4-BE49-F238E27FC236}">
                <a16:creationId xmlns:a16="http://schemas.microsoft.com/office/drawing/2014/main" id="{2EBB629C-0461-0D8C-DA5C-C136AD5443E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1670</TotalTime>
  <Words>1240</Words>
  <Application>Microsoft Office PowerPoint</Application>
  <PresentationFormat>Widescreen</PresentationFormat>
  <Paragraphs>170</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Courier New</vt:lpstr>
      <vt:lpstr>Times New Roman</vt:lpstr>
      <vt:lpstr>Wingdings</vt:lpstr>
      <vt:lpstr>New Microsoft PowerPoint Presentation</vt:lpstr>
      <vt:lpstr>Pneumonia Detection in Chest X-ray Images Using a Hybrid Model of Shallow CNN and VGG16 Transfer Learning</vt:lpstr>
      <vt:lpstr>Outline</vt:lpstr>
      <vt:lpstr>Introduction</vt:lpstr>
      <vt:lpstr>Objective</vt:lpstr>
      <vt:lpstr>Background Study</vt:lpstr>
      <vt:lpstr>Background Study</vt:lpstr>
      <vt:lpstr>Gap Analysis</vt:lpstr>
      <vt:lpstr>Methodology: Workflow Diagram</vt:lpstr>
      <vt:lpstr>Result and Analysis</vt:lpstr>
      <vt:lpstr>Result and Analysis</vt:lpstr>
      <vt:lpstr>Result and Analysis</vt:lpstr>
      <vt:lpstr>Novelty of the Work</vt:lpstr>
      <vt:lpstr>Sample dataset</vt:lpstr>
      <vt:lpstr>Expected Output</vt:lpstr>
      <vt:lpstr>Sample dataset</vt:lpstr>
      <vt:lpstr>Expected Output</vt:lpstr>
      <vt:lpstr>Web Interface of Image Enhancement</vt:lpstr>
      <vt:lpstr>Conclusion</vt:lpstr>
      <vt:lpstr>References</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Sheikh Rubel</cp:lastModifiedBy>
  <cp:revision>272</cp:revision>
  <dcterms:created xsi:type="dcterms:W3CDTF">2011-07-17T02:56:35Z</dcterms:created>
  <dcterms:modified xsi:type="dcterms:W3CDTF">2026-01-05T18:31:08Z</dcterms:modified>
</cp:coreProperties>
</file>